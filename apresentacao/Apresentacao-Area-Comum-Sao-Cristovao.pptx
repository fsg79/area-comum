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institucional do Área Comum para o Condomínio São Cristóvão. O objetivo é mostrar a solução, a experiência dos três perfis e as regras que ficam garantidas no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não é apenas estético: a falta de uma fonte única de verdade gera conflito, retrabalho na portaria e regras que ninguém consegue auditar.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proposta entrega uma plataforma completa: a interface bonita é só a ponta. As regras e permissões são validadas no servidor, independente do que aparece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jornada do morador foi desenhada para reduzir idas à portaria: ele vê a agenda, faz a reserva, acompanha a aprovação e resolve multas pelo próprio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calendário mensal é a visão de conjunto. A página de cada área aprofunda os próximos 21 dias, mostra as regras e permite reservar sem sair do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diferencial técnico: as regras não dependem de esconder botões. Elas são verificadas no serviço, na API e no banco, inclusive em chamadas diretas.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síndico ganha uma visão consolidada: aprovações pendentes, regras de cada área, bloqueios de manutenção, multas e o uso mensal, sem depender de controles paralelos.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portaria tem uma visão operacional e restrita. O sistema mostra apenas as reservas do dia e permite registrar a entrega e a devolução da 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Pagamentos e notificações fecham o ciclo: a multa pode ser resolvida pelo morador, com comprovante, e todos os eventos relevantes geram avisos no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stack é intencionalmente enxuta: Next.js e SQLite entregam velocidade e baixo custo de operação, com segurança de senhas, sessão e permissões desde 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vão além da reserva: o condomínio ganha transparência, critérios claros, registro financeiro e uma base que pode crescer com novas áreas e usuários.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com o caminho de implantação e os acessos de demonstração. O sistema já está publicado: area-comum.onrender.com (link público e gratuito, com HTTPS). Mostre o QR Code para a assembleia abrir no celular na hora, ou use as contas de teste ao lado. A aprovação pode acontecer em assembleia e o piloto valida a operação antes do lançamento.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F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48640"/>
            <a:ext cx="6126480" cy="6126480"/>
          </a:xfrm>
          <a:prstGeom prst="rect">
            <a:avLst/>
          </a:prstGeom>
        </p:spPr>
      </p:pic>
      <p:pic>
        <p:nvPicPr>
          <p:cNvPr id="3" name="Picture 2" descr="emblem-sc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02920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8448" y="56692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00" b="1" i="0">
                <a:solidFill>
                  <a:srgbClr val="F7F2E8"/>
                </a:solidFill>
                <a:latin typeface="Segoe UI"/>
              </a:rPr>
              <a:t>São Cristóvão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B9CFC4"/>
                </a:solidFill>
                <a:latin typeface="Segoe UI"/>
              </a:rPr>
              <a:t>CONDOMÍNIO · ÁREA COMUM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EAC469"/>
                </a:solidFill>
                <a:latin typeface="Segoe UI"/>
              </a:rPr>
              <a:t>PROPOSTA DE IMPLANTAÇÃO · OUTUBRO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23160"/>
            <a:ext cx="6583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5400" b="0" i="0">
                <a:solidFill>
                  <a:srgbClr val="F7F2E8"/>
                </a:solidFill>
                <a:latin typeface="Georgia"/>
              </a:rPr>
              <a:t>Área Comum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93008"/>
            <a:ext cx="6400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0" i="0">
                <a:solidFill>
                  <a:srgbClr val="F7F2E8"/>
                </a:solidFill>
                <a:latin typeface="Georgia"/>
              </a:rPr>
              <a:t>Reservas do condomínio,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0" i="1">
                <a:solidFill>
                  <a:srgbClr val="EAC469"/>
                </a:solidFill>
                <a:latin typeface="Georgia"/>
              </a:rPr>
              <a:t>em sintonia.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5604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 i="0">
                <a:solidFill>
                  <a:srgbClr val="D7E4DD"/>
                </a:solidFill>
                <a:latin typeface="Segoe UI"/>
              </a:rPr>
              <a:t>Agenda, regras, aprovações, pagamentos e avisos em uma única plataforma — com cada pessoa vendo e fazendo exatamente o que o seu papel permite.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79008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79008"/>
            <a:ext cx="93268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F7F2E8"/>
                </a:solidFill>
                <a:latin typeface="Segoe UI"/>
              </a:rPr>
              <a:t>Morador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495" y="577900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5" y="5779008"/>
            <a:ext cx="10241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F7F2E8"/>
                </a:solidFill>
                <a:latin typeface="Segoe UI"/>
              </a:rPr>
              <a:t>Síndico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577900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5779008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F7F2E8"/>
                </a:solidFill>
                <a:latin typeface="Segoe UI"/>
              </a:rPr>
              <a:t>Portaria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27648"/>
            <a:ext cx="10927080" cy="10972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FB3A8"/>
                </a:solidFill>
                <a:latin typeface="Segoe UI"/>
              </a:rPr>
              <a:t>Condomínio São Cristóvão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19088"/>
            <a:ext cx="4251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FB3A8"/>
                </a:solidFill>
                <a:latin typeface="Segoe UI"/>
              </a:rPr>
              <a:t>Sistema web · Next.js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O caderno da portaria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não dá mais conta.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64746E"/>
                </a:solidFill>
                <a:latin typeface="Segoe UI"/>
              </a:rPr>
              <a:t>Quatro áreas, dezenas de moradores e regras que hoje vivem na memória de cada um.</a:t>
            </a:r>
          </a:p>
        </p:txBody>
      </p:sp>
      <p:pic>
        <p:nvPicPr>
          <p:cNvPr id="5" name="Picture 4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251460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724912"/>
            <a:ext cx="310896" cy="31089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724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8211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122F27"/>
                </a:solidFill>
                <a:latin typeface="Segoe UI"/>
              </a:rPr>
              <a:t>Briga por horário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4787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0" b="0" i="0">
                <a:solidFill>
                  <a:srgbClr val="64746E"/>
                </a:solidFill>
                <a:latin typeface="Segoe UI"/>
              </a:rPr>
              <a:t>Duas famílias acreditam ter reservado o mesmo espaço no mesmo horário.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51460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2724912"/>
            <a:ext cx="310896" cy="31089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724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318211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122F27"/>
                </a:solidFill>
                <a:latin typeface="Segoe UI"/>
              </a:rPr>
              <a:t>Agenda invisível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54787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0" b="0" i="0">
                <a:solidFill>
                  <a:srgbClr val="64746E"/>
                </a:solidFill>
                <a:latin typeface="Segoe UI"/>
              </a:rPr>
              <a:t>O morador não sabe se a quadra está livre, quem reservou ou quando será liberada.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0104" y="251460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46136" y="2724912"/>
            <a:ext cx="310896" cy="31089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2724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18211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122F27"/>
                </a:solidFill>
                <a:latin typeface="Segoe UI"/>
              </a:rPr>
              <a:t>Regras sem registro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136" y="354787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0" b="0" i="0">
                <a:solidFill>
                  <a:srgbClr val="64746E"/>
                </a:solidFill>
                <a:latin typeface="Segoe UI"/>
              </a:rPr>
              <a:t>Aprovações, bloqueios e multas ficam informais — e difíceis de cobrar depois.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5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30368"/>
            <a:ext cx="9509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 i="1">
                <a:solidFill>
                  <a:srgbClr val="F7F2E8"/>
                </a:solidFill>
                <a:latin typeface="Georgia"/>
              </a:rPr>
              <a:t>“Hoje isso é feito num caderno na portaria e sempre dá briga por horário.”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EAC469"/>
                </a:solidFill>
                <a:latin typeface="Segoe UI"/>
              </a:rPr>
              <a:t>— a realidade que o Área Comum resolve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Um sistema de verdade —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não só telas bonitas.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64746E"/>
                </a:solidFill>
                <a:latin typeface="Segoe UI"/>
              </a:rPr>
              <a:t>Agenda, regras, aprovações, pagamentos e avisos no mesmo lugar, com permissões por perfil.</a:t>
            </a:r>
          </a:p>
        </p:txBody>
      </p:sp>
      <p:pic>
        <p:nvPicPr>
          <p:cNvPr id="5" name="Picture 4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1792" y="2505456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50545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Agenda e calendário das 4 áreas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340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Visão mensal, por dia e por espaço, com bloqueios de manutenção.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3346704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4670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1012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Regras e aprovações automáticas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7530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Conflito de horário, antecedência, limite de convidados e 2 reservas futuras.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4187952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8795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51376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Pagamentos e notificações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1655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Multas com PIX/cartão simulado, comprovante e central de avisos.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5029200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02920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9262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Permissões garantidas no 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Cada papel vê e faz somente o que lhe cabe — em cada API e consulta.</a:t>
            </a:r>
          </a:p>
        </p:txBody>
      </p:sp>
      <p:pic>
        <p:nvPicPr>
          <p:cNvPr id="22" name="Picture 21" descr="visao-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6276"/>
            <a:ext cx="5897880" cy="433980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852160" y="619963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6199632"/>
            <a:ext cx="10515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50" b="1" i="0">
                <a:solidFill>
                  <a:srgbClr val="8A5F1E"/>
                </a:solidFill>
                <a:latin typeface="Segoe UI"/>
              </a:rPr>
              <a:t>Visão do morador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7728" y="6199632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6199632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50" b="1" i="0">
                <a:solidFill>
                  <a:srgbClr val="64746E"/>
                </a:solidFill>
                <a:latin typeface="Segoe UI"/>
              </a:rPr>
              <a:t>Dados reais de demonstração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EXPERIÊNCIA DO MORADOR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Do celular para a agenda,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em poucos toques.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64746E"/>
                </a:solidFill>
                <a:latin typeface="Segoe UI"/>
              </a:rPr>
              <a:t>O morador consulta a disponibilidade, reserva, paga multas e recebe avisos sem passar na portaria.</a:t>
            </a:r>
          </a:p>
        </p:txBody>
      </p:sp>
      <p:pic>
        <p:nvPicPr>
          <p:cNvPr id="5" name="Picture 4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2148840"/>
            <a:ext cx="3593592" cy="3794760"/>
          </a:xfrm>
          <a:prstGeom prst="roundRect">
            <a:avLst>
              <a:gd name="adj" fmla="val 4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ao-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29" y="2286000"/>
            <a:ext cx="3168852" cy="23317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7240" y="4681728"/>
            <a:ext cx="274320" cy="274320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81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542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Visão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1091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80" b="0" i="0">
                <a:solidFill>
                  <a:srgbClr val="64746E"/>
                </a:solidFill>
                <a:latin typeface="Segoe UI"/>
              </a:rPr>
              <a:t>Próxima reserva, calendário do mês e situação do apartamento.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48840"/>
            <a:ext cx="3593592" cy="3794760"/>
          </a:xfrm>
          <a:prstGeom prst="roundRect">
            <a:avLst>
              <a:gd name="adj" fmla="val 4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ge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601" y="2286000"/>
            <a:ext cx="3091493" cy="233172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599432" y="4681728"/>
            <a:ext cx="274320" cy="274320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681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46542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501091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80" b="0" i="0">
                <a:solidFill>
                  <a:srgbClr val="64746E"/>
                </a:solidFill>
                <a:latin typeface="Segoe UI"/>
              </a:rPr>
              <a:t>Escolhe data, área e horário; as regras são conferidas na hora.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2148840"/>
            <a:ext cx="3593592" cy="3794760"/>
          </a:xfrm>
          <a:prstGeom prst="roundRect">
            <a:avLst>
              <a:gd name="adj" fmla="val 4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nh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432" y="2286000"/>
            <a:ext cx="3228215" cy="233172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421624" y="4681728"/>
            <a:ext cx="274320" cy="274320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4681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46542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Minhas reservas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5010912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80" b="0" i="0">
                <a:solidFill>
                  <a:srgbClr val="64746E"/>
                </a:solidFill>
                <a:latin typeface="Segoe UI"/>
              </a:rPr>
              <a:t>Acompanha solicitações, cancela e recebe notificações.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053328"/>
            <a:ext cx="11000232" cy="274320"/>
          </a:xfrm>
          <a:prstGeom prst="roundRect">
            <a:avLst>
              <a:gd name="adj" fmla="val 50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6089904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F7F2E8"/>
                </a:solidFill>
                <a:latin typeface="Segoe UI"/>
              </a:rPr>
              <a:t>Salão e churrasqueira passam pela aprovação do síndico · quadra e sala confirmam na hora.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Calendário mensal 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agenda por área.</a:t>
            </a:r>
          </a:p>
        </p:txBody>
      </p:sp>
      <p:pic>
        <p:nvPicPr>
          <p:cNvPr id="4" name="Picture 3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9792" y="126187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50" b="0" i="0">
                <a:solidFill>
                  <a:srgbClr val="64746E"/>
                </a:solidFill>
                <a:latin typeface="Segoe UI"/>
              </a:rPr>
              <a:t>Uma leitura rápida do mês inteiro e o detalhe de cada espaço.</a:t>
            </a:r>
          </a:p>
        </p:txBody>
      </p:sp>
      <p:pic>
        <p:nvPicPr>
          <p:cNvPr id="6" name="Picture 5" descr="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03" y="1783080"/>
            <a:ext cx="6061752" cy="457199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479792" y="1984248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98424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3852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Calendário do 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12848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Reservas confirmadas e pendentes aparecem com pontos coloridos por área.</a:t>
            </a:r>
          </a:p>
        </p:txBody>
      </p:sp>
      <p:sp>
        <p:nvSpPr>
          <p:cNvPr id="11" name="Oval 10"/>
          <p:cNvSpPr/>
          <p:nvPr/>
        </p:nvSpPr>
        <p:spPr>
          <a:xfrm>
            <a:off x="7479792" y="3108960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310896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063240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Bloqueios de manutenção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37560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O síndico marca o dia; a agenda e o formulário refletem imediatamente.</a:t>
            </a:r>
          </a:p>
        </p:txBody>
      </p:sp>
      <p:sp>
        <p:nvSpPr>
          <p:cNvPr id="15" name="Oval 14"/>
          <p:cNvSpPr/>
          <p:nvPr/>
        </p:nvSpPr>
        <p:spPr>
          <a:xfrm>
            <a:off x="7479792" y="4233671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4233671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87951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Agenda de 21 dias por área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462271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00" b="0" i="0">
                <a:solidFill>
                  <a:srgbClr val="64746E"/>
                </a:solidFill>
                <a:latin typeface="Segoe UI"/>
              </a:rPr>
              <a:t>O morador vê os próximos dias, horários livres e regras específicas.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230368"/>
            <a:ext cx="4069080" cy="868680"/>
          </a:xfrm>
          <a:prstGeom prst="roundRect">
            <a:avLst>
              <a:gd name="adj" fmla="val 5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5358384"/>
            <a:ext cx="3611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7F2E8"/>
                </a:solidFill>
                <a:latin typeface="Segoe UI"/>
              </a:rPr>
              <a:t>Uma fonte de verdade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B9CFC4"/>
                </a:solidFill>
                <a:latin typeface="Segoe UI"/>
              </a:rPr>
              <a:t>para moradores, síndico e portaria.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F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4023360"/>
            <a:ext cx="329184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EAC469"/>
                </a:solidFill>
                <a:latin typeface="Segoe UI"/>
              </a:rPr>
              <a:t>REGRAS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8961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0" i="0">
                <a:solidFill>
                  <a:srgbClr val="F7F2E8"/>
                </a:solidFill>
                <a:latin typeface="Georgia"/>
              </a:rPr>
              <a:t>As regras valem no servidor.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B9CFC4"/>
                </a:solidFill>
                <a:latin typeface="Segoe UI"/>
              </a:rPr>
              <a:t>A tela orienta. A API e o banco garantem que a regra seja cumprida.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5694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57860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Sem sobreposição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9008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Duas reservas não ocupam o mesmo horário na mesma área.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42316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5694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57860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Até 2 futuras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99008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Cada apartamento mantém no máximo duas reservas futuras.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42316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5694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57860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3 dias + aprovação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99008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Salão e churrasqueira exigem antecedência e análise do síndico.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3192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0782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08736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Limite de convidados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49884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Cada área tem seu próprio teto de pessoas por reserva.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93192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0782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408736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Multa de R$ 50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49884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Cancelamento com menos de 24 horas gera multa registrada.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931920"/>
            <a:ext cx="3364992" cy="1325880"/>
          </a:xfrm>
          <a:prstGeom prst="roundRect">
            <a:avLst>
              <a:gd name="adj" fmla="val 5000"/>
            </a:avLst>
          </a:prstGeom>
          <a:solidFill>
            <a:srgbClr val="1B4036"/>
          </a:solidFill>
          <a:ln w="11430">
            <a:solidFill>
              <a:srgbClr val="3A5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40782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EAC469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4087368"/>
            <a:ext cx="24688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F7F2E8"/>
                </a:solidFill>
                <a:latin typeface="Segoe UI"/>
              </a:rPr>
              <a:t>Multa bloqueia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49884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C4D6CC"/>
                </a:solidFill>
                <a:latin typeface="Segoe UI"/>
              </a:rPr>
              <a:t>Apartamento com multa em aberto não faz nova reserva.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779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1">
                <a:solidFill>
                  <a:srgbClr val="EAC469"/>
                </a:solidFill>
                <a:latin typeface="Georgia"/>
              </a:rPr>
              <a:t>“Cada pessoa só pode ver e fazer o que o papel dela permite — e isso é garantido no servidor.”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7E8E86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7E8E86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SÍNDICO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O síndico no controle,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sem planilhas.</a:t>
            </a:r>
          </a:p>
        </p:txBody>
      </p:sp>
      <p:pic>
        <p:nvPicPr>
          <p:cNvPr id="4" name="Picture 3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6600" y="124358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30" b="0" i="0">
                <a:solidFill>
                  <a:srgbClr val="64746E"/>
                </a:solidFill>
                <a:latin typeface="Segoe UI"/>
              </a:rPr>
              <a:t>Aprovações, áreas, manutenção, multas e uso do mês em um painel só.</a:t>
            </a:r>
          </a:p>
        </p:txBody>
      </p:sp>
      <p:pic>
        <p:nvPicPr>
          <p:cNvPr id="6" name="Picture 5" descr="pai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70" y="1783080"/>
            <a:ext cx="5694818" cy="45719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71907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719072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50" b="1" i="0">
                <a:solidFill>
                  <a:srgbClr val="8A5F1E"/>
                </a:solidFill>
                <a:latin typeface="Segoe UI"/>
              </a:rPr>
              <a:t>2 pendentes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1907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B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1325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50" b="1" i="0">
                <a:solidFill>
                  <a:srgbClr val="9E1F45"/>
                </a:solidFill>
                <a:latin typeface="Segoe UI"/>
              </a:rPr>
              <a:t>R$ 50 em aberto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719072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1719072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50" b="1" i="0">
                <a:solidFill>
                  <a:srgbClr val="64746E"/>
                </a:solidFill>
                <a:latin typeface="Segoe UI"/>
              </a:rPr>
              <a:t>8 reservas no mês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2414016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41401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377440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Aprovações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6334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Aprova ou recusa solicitações com um clique.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3328416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32841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3291840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Áreas e regras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5478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Cadastra espaços, limite de convidados, antecedência e aprovação.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4242816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24281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4206240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Manutenção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4622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Bloqueia datas e o sistema impede reservas naquele dia.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5157216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515721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5120640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Multas e uso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53766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Quita multas e acompanha horas, convidados e ocupação por área.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PORTARIA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A portaria vê só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o que precisa.</a:t>
            </a:r>
          </a:p>
        </p:txBody>
      </p:sp>
      <p:pic>
        <p:nvPicPr>
          <p:cNvPr id="4" name="Picture 3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5472" y="12435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30" b="0" i="0">
                <a:solidFill>
                  <a:srgbClr val="64746E"/>
                </a:solidFill>
                <a:latin typeface="Segoe UI"/>
              </a:rPr>
              <a:t>Reservas do dia, nome, apartamento e convidados — com entrega e devolução de chave.</a:t>
            </a:r>
          </a:p>
        </p:txBody>
      </p:sp>
      <p:pic>
        <p:nvPicPr>
          <p:cNvPr id="6" name="Picture 5" descr="porta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82" y="1783080"/>
            <a:ext cx="6329834" cy="4572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205472" y="1938528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5472" y="193852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019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Somente 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4884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A portaria não acessa a agenda futura nem outros dias.</a:t>
            </a:r>
          </a:p>
        </p:txBody>
      </p:sp>
      <p:sp>
        <p:nvSpPr>
          <p:cNvPr id="11" name="Oval 10"/>
          <p:cNvSpPr/>
          <p:nvPr/>
        </p:nvSpPr>
        <p:spPr>
          <a:xfrm>
            <a:off x="7205472" y="2807208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80720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77063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Quem e quantos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1752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Nome do morador, apartamento e número de convidados.</a:t>
            </a:r>
          </a:p>
        </p:txBody>
      </p:sp>
      <p:sp>
        <p:nvSpPr>
          <p:cNvPr id="15" name="Oval 14"/>
          <p:cNvSpPr/>
          <p:nvPr/>
        </p:nvSpPr>
        <p:spPr>
          <a:xfrm>
            <a:off x="7205472" y="3675887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3675887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63931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Chave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88620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Entrega e devolução registradas com data e hora.</a:t>
            </a:r>
          </a:p>
        </p:txBody>
      </p:sp>
      <p:sp>
        <p:nvSpPr>
          <p:cNvPr id="19" name="Oval 18"/>
          <p:cNvSpPr/>
          <p:nvPr/>
        </p:nvSpPr>
        <p:spPr>
          <a:xfrm>
            <a:off x="7205472" y="4544567"/>
            <a:ext cx="219456" cy="219456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544567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9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50799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Privacidade por padrão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754879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O filtro é aplicado no servidor, não apenas na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5472" y="5532120"/>
            <a:ext cx="4160520" cy="566928"/>
          </a:xfrm>
          <a:prstGeom prst="roundRect">
            <a:avLst>
              <a:gd name="adj" fmla="val 5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5632704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1">
                <a:solidFill>
                  <a:srgbClr val="F7F2E8"/>
                </a:solidFill>
                <a:latin typeface="Georgia"/>
              </a:rPr>
              <a:t>“Sem expor a agenda futura nem dados de outros dias.”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PAGAMENTOS &amp; AVISOS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Multas e avisos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sem ruído.</a:t>
            </a:r>
          </a:p>
        </p:txBody>
      </p:sp>
      <p:pic>
        <p:nvPicPr>
          <p:cNvPr id="4" name="Picture 3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930" b="0" i="0">
                <a:solidFill>
                  <a:srgbClr val="64746E"/>
                </a:solidFill>
                <a:latin typeface="Segoe UI"/>
              </a:rPr>
              <a:t>Pagamento com comprovante e central de avisos para cada evento.</a:t>
            </a:r>
          </a:p>
        </p:txBody>
      </p:sp>
      <p:pic>
        <p:nvPicPr>
          <p:cNvPr id="6" name="Picture 5" descr="pag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7" y="1783080"/>
            <a:ext cx="2703905" cy="2926080"/>
          </a:xfrm>
          <a:prstGeom prst="rect">
            <a:avLst/>
          </a:prstGeom>
        </p:spPr>
      </p:pic>
      <p:pic>
        <p:nvPicPr>
          <p:cNvPr id="7" name="Picture 6" descr="notificaco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664" y="1783080"/>
            <a:ext cx="448787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96596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122F27"/>
                </a:solidFill>
                <a:latin typeface="Segoe UI"/>
              </a:rPr>
              <a:t>PIX ou cartão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945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64746E"/>
                </a:solidFill>
                <a:latin typeface="Segoe UI"/>
              </a:rPr>
              <a:t>Fluxo de demonstração com comprovante e quitação imediata.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74320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122F27"/>
                </a:solidFill>
                <a:latin typeface="Segoe UI"/>
              </a:rPr>
              <a:t>Síndico também quita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64746E"/>
                </a:solidFill>
                <a:latin typeface="Segoe UI"/>
              </a:rPr>
              <a:t>Registro manual no painel para casos presenciais.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520439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122F27"/>
                </a:solidFill>
                <a:latin typeface="Segoe UI"/>
              </a:rPr>
              <a:t>Notificações reais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49039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64746E"/>
                </a:solidFill>
                <a:latin typeface="Segoe UI"/>
              </a:rPr>
              <a:t>Reservas, aprovações, multas, chaves e manutenção.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297679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122F27"/>
                </a:solidFill>
                <a:latin typeface="Segoe UI"/>
              </a:rPr>
              <a:t>Marcar como lidas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526279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30" b="0" i="0">
                <a:solidFill>
                  <a:srgbClr val="64746E"/>
                </a:solidFill>
                <a:latin typeface="Segoe UI"/>
              </a:rPr>
              <a:t>Cada usuário vê somente os próprios avisos.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230368"/>
            <a:ext cx="11000232" cy="566928"/>
          </a:xfrm>
          <a:prstGeom prst="roundRect">
            <a:avLst>
              <a:gd name="adj" fmla="val 5000"/>
            </a:avLst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309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80" b="1" i="0">
                <a:solidFill>
                  <a:srgbClr val="8A5F1E"/>
                </a:solidFill>
                <a:latin typeface="Segoe UI"/>
              </a:rPr>
              <a:t>Pagamento simulado nesta demonstração. Em produção, integra-se a um gateway PIX/PSP.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TECNOLOGIA &amp;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Base sólida para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evoluir com segurança.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64746E"/>
                </a:solidFill>
                <a:latin typeface="Segoe UI"/>
              </a:rPr>
              <a:t>Stack moderna, dados leves e controle de acesso desde a primeira linha.</a:t>
            </a:r>
          </a:p>
        </p:txBody>
      </p:sp>
      <p:pic>
        <p:nvPicPr>
          <p:cNvPr id="5" name="Picture 4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2240280"/>
            <a:ext cx="2304288" cy="12344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42316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Next.js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43200"/>
            <a:ext cx="1920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19" b="0" i="0">
                <a:solidFill>
                  <a:srgbClr val="64746E"/>
                </a:solidFill>
                <a:latin typeface="Segoe UI"/>
              </a:rPr>
              <a:t>Interface rápida e renderizada no servidor.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1528" y="2240280"/>
            <a:ext cx="2304288" cy="12344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242316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743200"/>
            <a:ext cx="1920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19" b="0" i="0">
                <a:solidFill>
                  <a:srgbClr val="64746E"/>
                </a:solidFill>
                <a:latin typeface="Segoe UI"/>
              </a:rPr>
              <a:t>Menos erros e regras de negócio tipadas.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2304288" cy="12344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8404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60520"/>
            <a:ext cx="1920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19" b="0" i="0">
                <a:solidFill>
                  <a:srgbClr val="64746E"/>
                </a:solidFill>
                <a:latin typeface="Segoe UI"/>
              </a:rPr>
              <a:t>Visual consistente e responsivo.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8" y="3657600"/>
            <a:ext cx="2304288" cy="123444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384048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122F27"/>
                </a:solidFill>
                <a:latin typeface="Segoe UI"/>
              </a:rP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4160520"/>
            <a:ext cx="1920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19" b="0" i="0">
                <a:solidFill>
                  <a:srgbClr val="64746E"/>
                </a:solidFill>
                <a:latin typeface="Segoe UI"/>
              </a:rPr>
              <a:t>Banco local simples, leve e auditável.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605272" cy="4526280"/>
          </a:xfrm>
          <a:prstGeom prst="roundRect">
            <a:avLst>
              <a:gd name="adj" fmla="val 5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27632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EAC469"/>
                </a:solidFill>
                <a:latin typeface="Segoe UI"/>
              </a:rPr>
              <a:t>SEGURANÇA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2075688"/>
            <a:ext cx="201168" cy="201168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75688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3911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30" b="1" i="0">
                <a:solidFill>
                  <a:srgbClr val="F7F2E8"/>
                </a:solidFill>
                <a:latin typeface="Segoe UI"/>
              </a:rPr>
              <a:t>Senhas com scrypt + salt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768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Nada de senha em texto puro no banco.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788920"/>
            <a:ext cx="201168" cy="201168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788920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52344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30" b="1" i="0">
                <a:solidFill>
                  <a:srgbClr val="F7F2E8"/>
                </a:solidFill>
                <a:latin typeface="Segoe UI"/>
              </a:rPr>
              <a:t>Sessão em cookie httpOnly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900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Token aleatório; só o hash fica armazenado.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502152"/>
            <a:ext cx="201168" cy="201168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502152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65576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30" b="1" i="0">
                <a:solidFill>
                  <a:srgbClr val="F7F2E8"/>
                </a:solidFill>
                <a:latin typeface="Segoe UI"/>
              </a:rPr>
              <a:t>Permissões por papel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033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Verificadas em cada API, serviço e página.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4215383"/>
            <a:ext cx="201168" cy="201168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215383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7880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30" b="1" i="0">
                <a:solidFill>
                  <a:srgbClr val="F7F2E8"/>
                </a:solidFill>
                <a:latin typeface="Segoe UI"/>
              </a:rPr>
              <a:t>Trilha de multas e pagamentos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165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Valores, datas, método e comprovante registrados.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928616"/>
            <a:ext cx="201168" cy="201168"/>
          </a:xfrm>
          <a:prstGeom prst="ellipse">
            <a:avLst/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928616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9204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30" b="1" i="0">
                <a:solidFill>
                  <a:srgbClr val="F7F2E8"/>
                </a:solidFill>
                <a:latin typeface="Segoe UI"/>
              </a:rPr>
              <a:t>76 testes automatizados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2978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As regras críticas são testadas via API.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663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22F27"/>
                </a:solidFill>
                <a:latin typeface="Segoe UI"/>
              </a:rPr>
              <a:t>Responsivo no celular e no computador.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 i="0">
                <a:solidFill>
                  <a:srgbClr val="64746E"/>
                </a:solidFill>
                <a:latin typeface="Segoe UI"/>
              </a:rPr>
              <a:t>A mesma base atende morador, síndico e portaria.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413248"/>
            <a:ext cx="5029200" cy="10972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5046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750" b="0" i="0">
                <a:solidFill>
                  <a:srgbClr val="B9CFC4"/>
                </a:solidFill>
                <a:latin typeface="Segoe UI"/>
              </a:rPr>
              <a:t>Dados do condomínio no SQLite; backups podem ser automatizados na implantação.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8A5F1E"/>
                </a:solidFill>
                <a:latin typeface="Segoe UI"/>
              </a:rPr>
              <a:t>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0">
                <a:solidFill>
                  <a:srgbClr val="122F27"/>
                </a:solidFill>
                <a:latin typeface="Georgia"/>
              </a:rPr>
              <a:t>Menos conflito.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100" b="0" i="1">
                <a:solidFill>
                  <a:srgbClr val="8A5F1E"/>
                </a:solidFill>
                <a:latin typeface="Georgia"/>
              </a:rPr>
              <a:t>Mais convivência.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64746E"/>
                </a:solidFill>
                <a:latin typeface="Segoe UI"/>
              </a:rPr>
              <a:t>O ganho não é só tecnológico: é de transparência, previsibilidade e tempo para todos.</a:t>
            </a:r>
          </a:p>
        </p:txBody>
      </p:sp>
      <p:pic>
        <p:nvPicPr>
          <p:cNvPr id="5" name="Picture 4" descr="emblem-sc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84048"/>
            <a:ext cx="420624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21488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 i="0">
                <a:solidFill>
                  <a:srgbClr val="D9A441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Transparência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Todos veem a mesma agenda e o mesmo histórico.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1488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 i="0">
                <a:solidFill>
                  <a:srgbClr val="D9A441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52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Regras claras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004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Critérios objetivos para reservar, cancelar e pagar.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1488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 i="0">
                <a:solidFill>
                  <a:srgbClr val="D9A441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52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Prestação de contas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2004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Multas e pagamentos com registro e comprovante.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21488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 w="11430">
            <a:solidFill>
              <a:srgbClr val="E7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3591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 i="0">
                <a:solidFill>
                  <a:srgbClr val="D9A441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852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122F27"/>
                </a:solidFill>
                <a:latin typeface="Segoe UI"/>
              </a:rPr>
              <a:t>Pronto para crescer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2004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869" b="0" i="0">
                <a:solidFill>
                  <a:srgbClr val="64746E"/>
                </a:solidFill>
                <a:latin typeface="Segoe UI"/>
              </a:rPr>
              <a:t>Novas áreas, regras e moradores sem refazer o sistema.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09160"/>
            <a:ext cx="11000232" cy="1097280"/>
          </a:xfrm>
          <a:prstGeom prst="roundRect">
            <a:avLst>
              <a:gd name="adj" fmla="val 5000"/>
            </a:avLst>
          </a:prstGeom>
          <a:solidFill>
            <a:srgbClr val="12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1">
                <a:solidFill>
                  <a:srgbClr val="F7F2E8"/>
                </a:solidFill>
                <a:latin typeface="Georgia"/>
              </a:rPr>
              <a:t>“A convivência começa quando a informação é a mesma para todos.”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85232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EAC469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0749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9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5074920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700" b="1" i="0">
                <a:solidFill>
                  <a:srgbClr val="8A5F1E"/>
                </a:solidFill>
                <a:latin typeface="Segoe UI"/>
              </a:rPr>
              <a:t>4 áreas · 3 perfis · 1 sistema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Condomínio São Cristóvão · Área Comum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537960"/>
            <a:ext cx="941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AA69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F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-1280160"/>
            <a:ext cx="420624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5720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50" b="1" i="0">
                <a:solidFill>
                  <a:srgbClr val="EAC469"/>
                </a:solidFill>
                <a:latin typeface="Segoe UI"/>
              </a:rPr>
              <a:t>ENCAMINHAMENTO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000" b="0" i="0">
                <a:solidFill>
                  <a:srgbClr val="F7F2E8"/>
                </a:solidFill>
                <a:latin typeface="Georgia"/>
              </a:rPr>
              <a:t>Próximo passo:</a:t>
            </a:r>
            <a:r>
              <a:rPr sz="3000" b="0" i="1">
                <a:solidFill>
                  <a:srgbClr val="EAC469"/>
                </a:solidFill>
                <a:latin typeface="Georgia"/>
              </a:rPr>
              <a:t> aprovação e implantação.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B9CFC4"/>
                </a:solidFill>
                <a:latin typeface="Segoe UI"/>
              </a:rPr>
              <a:t>Uma proposta pronta para ser apresentada e aprovada em assembleia.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762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>
                <a:solidFill>
                  <a:srgbClr val="EAC46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42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F7F2E8"/>
                </a:solidFill>
                <a:latin typeface="Segoe UI"/>
              </a:rPr>
              <a:t>Aprovação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Apresentação e aprovação em assembleia.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231136"/>
            <a:ext cx="2084831" cy="7315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21762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>
                <a:solidFill>
                  <a:srgbClr val="EAC469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542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F7F2E8"/>
                </a:solidFill>
                <a:latin typeface="Segoe UI"/>
              </a:rPr>
              <a:t>Configuração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83464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Áreas, regras, moradores e contas oficiais.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2231136"/>
            <a:ext cx="2084831" cy="7315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1762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>
                <a:solidFill>
                  <a:srgbClr val="EAC469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542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F7F2E8"/>
                </a:solidFill>
                <a:latin typeface="Segoe UI"/>
              </a:rPr>
              <a:t>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83464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Teste com um grupo e ajuste dos fluxos.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7416" y="2231136"/>
            <a:ext cx="2084831" cy="7315"/>
          </a:xfrm>
          <a:prstGeom prst="rect">
            <a:avLst/>
          </a:prstGeom>
          <a:solidFill>
            <a:srgbClr val="3A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217627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0" i="0">
                <a:solidFill>
                  <a:srgbClr val="EAC469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542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F7F2E8"/>
                </a:solidFill>
                <a:latin typeface="Segoe UI"/>
              </a:rPr>
              <a:t>Lançamento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83464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 i="0">
                <a:solidFill>
                  <a:srgbClr val="B9CFC4"/>
                </a:solidFill>
                <a:latin typeface="Segoe UI"/>
              </a:rPr>
              <a:t>Treinamento da portaria e comunicação.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40480"/>
            <a:ext cx="11000232" cy="2011680"/>
          </a:xfrm>
          <a:prstGeom prst="roundRect">
            <a:avLst>
              <a:gd name="adj" fmla="val 5000"/>
            </a:avLst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867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SISTEMA NO AR — ACESSE 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33672"/>
            <a:ext cx="3474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122F27"/>
                </a:solidFill>
                <a:latin typeface="Segoe UI"/>
              </a:rPr>
              <a:t>area-comum.onrender.com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64746E"/>
                </a:solidFill>
                <a:latin typeface="Segoe UI"/>
              </a:rPr>
              <a:t>Link público, gratuito e com HTTPS.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730" b="0" i="0">
                <a:solidFill>
                  <a:srgbClr val="64746E"/>
                </a:solidFill>
                <a:latin typeface="Segoe UI"/>
              </a:rPr>
              <a:t>Abra em qualquer computador ou celular, sem instalar nada nem usar a rede do condomínio. Na primeira visita após um período sem uso, o servidor gratuito pode levar até 1 minuto para responder.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59552"/>
            <a:ext cx="3520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660" b="0" i="0">
                <a:solidFill>
                  <a:srgbClr val="64746E"/>
                </a:solidFill>
                <a:latin typeface="Segoe UI"/>
              </a:rPr>
              <a:t>Demonstração local: http://127.0.0.1:3000 (neste computador)</a:t>
            </a:r>
          </a:p>
        </p:txBody>
      </p:sp>
      <p:pic>
        <p:nvPicPr>
          <p:cNvPr id="26" name="Picture 25" descr="qr-a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420624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90288" y="5541264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650" b="1" i="0">
                <a:solidFill>
                  <a:srgbClr val="8A5F1E"/>
                </a:solidFill>
                <a:latin typeface="Segoe UI"/>
              </a:rPr>
              <a:t>Aponte a câmera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069080"/>
            <a:ext cx="10972" cy="1600200"/>
          </a:xfrm>
          <a:prstGeom prst="rect">
            <a:avLst/>
          </a:prstGeom>
          <a:solidFill>
            <a:srgbClr val="E7D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00507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8A5F1E"/>
                </a:solidFill>
                <a:latin typeface="Segoe UI"/>
              </a:rPr>
              <a:t>CONTAS DE TESTE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15968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122F27"/>
                </a:solidFill>
                <a:latin typeface="Segoe UI"/>
              </a:rPr>
              <a:t>Síndico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31596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64746E"/>
                </a:solidFill>
                <a:latin typeface="Segoe UI"/>
              </a:rPr>
              <a:t>sindico@areacomum.app · Sindico@123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70001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122F27"/>
                </a:solidFill>
                <a:latin typeface="Segoe UI"/>
              </a:rPr>
              <a:t>Portaria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70001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64746E"/>
                </a:solidFill>
                <a:latin typeface="Segoe UI"/>
              </a:rPr>
              <a:t>portaria@areacomum.app · Portaria@123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084064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1" i="0">
                <a:solidFill>
                  <a:srgbClr val="122F27"/>
                </a:solidFill>
                <a:latin typeface="Segoe UI"/>
              </a:rPr>
              <a:t>Morador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5084064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00" b="0" i="0">
                <a:solidFill>
                  <a:srgbClr val="64746E"/>
                </a:solidFill>
                <a:latin typeface="Segoe UI"/>
              </a:rPr>
              <a:t>ana@areacomum.app · Ana@1234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199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FB3A8"/>
                </a:solidFill>
                <a:latin typeface="Segoe UI"/>
              </a:rPr>
              <a:t>Sistema publicado, com testes automatizados de regras e capturas do site em produção.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1996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750" b="0" i="0">
                <a:solidFill>
                  <a:srgbClr val="9FB3A8"/>
                </a:solidFill>
                <a:latin typeface="Segoe UI"/>
              </a:rPr>
              <a:t>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