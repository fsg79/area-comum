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Apresentação institucional do Área Comum para o Condomínio São Cristóvão. O objetivo é mostrar a solução, a experiência dos três perfis e as regras que ficam garantidas no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problema não é apenas estético: a falta de uma fonte única de verdade gera conflito, retrabalho na portaria e regras que ninguém consegue auditar.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proposta entrega uma plataforma completa: a interface bonita é só a ponta. As regras e permissões são validadas no servidor, independente do que aparece na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jornada do morador foi desenhada para reduzir idas à portaria: ele vê a agenda, faz a reserva, acompanha a aprovação e resolve multas pelo próprio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calendário mensal é a visão de conjunto. A página de cada área aprofunda os próximos 21 dias, mostra as regras e permite reservar sem sair do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diferencial técnico: as regras não dependem de esconder botões. Elas são verificadas no serviço, na API e no banco, inclusive em chamadas diretas.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síndico ganha uma visão consolidada: aprovações pendentes, regras de cada área, bloqueios de manutenção, multas e o uso mensal, sem depender de controles paralelos.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portaria tem uma visão operacional e restrita. O sistema mostra apenas as reservas do dia e permite registrar a entrega e a devolução da chave.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Pagamentos e notificações fecham o ciclo: a multa pode ser resolvida pelo morador, com comprovante, e todos os eventos relevantes geram avisos no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stack é intencionalmente enxuta: Next.js e SQLite entregam velocidade e baixo custo de operação, com segurança de senhas, sessão e permissões desde o início.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benefícios vão além da reserva: o condomínio ganha transparência, critérios claros, registro financeiro e uma base que pode crescer com novas áreas e usuários.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 com o caminho de implantação e os acessos de demonstração. A aprovação pode acontecer em assembleia e o piloto valida a operação antes do lançamento.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F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548640"/>
            <a:ext cx="6126480" cy="6126480"/>
          </a:xfrm>
          <a:prstGeom prst="rect">
            <a:avLst/>
          </a:prstGeom>
        </p:spPr>
      </p:pic>
      <p:pic>
        <p:nvPicPr>
          <p:cNvPr id="3" name="Picture 2" descr="emblem-sc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02920"/>
            <a:ext cx="530352" cy="5303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98448" y="566928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500" b="1" i="0">
                <a:solidFill>
                  <a:srgbClr val="F7F2E8"/>
                </a:solidFill>
                <a:latin typeface="Segoe UI"/>
              </a:rPr>
              <a:t>São Cristóvão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750" b="0" i="0">
                <a:solidFill>
                  <a:srgbClr val="B9CFC4"/>
                </a:solidFill>
                <a:latin typeface="Segoe UI"/>
              </a:rPr>
              <a:t>CONDOMÍNIO · ÁREA COMUM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84831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EAC469"/>
                </a:solidFill>
                <a:latin typeface="Segoe UI"/>
              </a:rPr>
              <a:t>PROPOSTA DE IMPLANTAÇÃO · OUTUBRO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423160"/>
            <a:ext cx="65836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5400" b="0" i="0">
                <a:solidFill>
                  <a:srgbClr val="F7F2E8"/>
                </a:solidFill>
                <a:latin typeface="Georgia"/>
              </a:rPr>
              <a:t>Área Comum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93008"/>
            <a:ext cx="64008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0" i="0">
                <a:solidFill>
                  <a:srgbClr val="F7F2E8"/>
                </a:solidFill>
                <a:latin typeface="Georgia"/>
              </a:rPr>
              <a:t>Reservas do condomínio,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000" b="0" i="1">
                <a:solidFill>
                  <a:srgbClr val="EAC469"/>
                </a:solidFill>
                <a:latin typeface="Georgia"/>
              </a:rPr>
              <a:t>em sintonia.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56048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050" b="0" i="0">
                <a:solidFill>
                  <a:srgbClr val="D7E4DD"/>
                </a:solidFill>
                <a:latin typeface="Segoe UI"/>
              </a:rPr>
              <a:t>Agenda, regras, aprovações, pagamentos e avisos em uma única plataforma — com cada pessoa vendo e fazendo exatamente o que o seu papel permite.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779008"/>
            <a:ext cx="932688" cy="292608"/>
          </a:xfrm>
          <a:prstGeom prst="roundRect">
            <a:avLst>
              <a:gd name="adj" fmla="val 50000"/>
            </a:avLst>
          </a:prstGeom>
          <a:solidFill>
            <a:srgbClr val="1B4036"/>
          </a:solidFill>
          <a:ln w="11430">
            <a:solidFill>
              <a:srgbClr val="3A5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79008"/>
            <a:ext cx="93268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F7F2E8"/>
                </a:solidFill>
                <a:latin typeface="Segoe UI"/>
              </a:rPr>
              <a:t>Morador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495" y="5779008"/>
            <a:ext cx="1024128" cy="292608"/>
          </a:xfrm>
          <a:prstGeom prst="roundRect">
            <a:avLst>
              <a:gd name="adj" fmla="val 50000"/>
            </a:avLst>
          </a:prstGeom>
          <a:solidFill>
            <a:srgbClr val="1B4036"/>
          </a:solidFill>
          <a:ln w="11430">
            <a:solidFill>
              <a:srgbClr val="3A5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495" y="5779008"/>
            <a:ext cx="102412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F7F2E8"/>
                </a:solidFill>
                <a:latin typeface="Segoe UI"/>
              </a:rPr>
              <a:t>Síndico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577900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B4036"/>
          </a:solidFill>
          <a:ln w="11430">
            <a:solidFill>
              <a:srgbClr val="3A5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6352" y="5779008"/>
            <a:ext cx="10515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F7F2E8"/>
                </a:solidFill>
                <a:latin typeface="Segoe UI"/>
              </a:rPr>
              <a:t>Portaria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327648"/>
            <a:ext cx="10927080" cy="10972"/>
          </a:xfrm>
          <a:prstGeom prst="rect">
            <a:avLst/>
          </a:prstGeom>
          <a:solidFill>
            <a:srgbClr val="3A5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FB3A8"/>
                </a:solidFill>
                <a:latin typeface="Segoe UI"/>
              </a:rPr>
              <a:t>Condomínio São Cristóvão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6419088"/>
            <a:ext cx="4251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FB3A8"/>
                </a:solidFill>
                <a:latin typeface="Segoe UI"/>
              </a:rPr>
              <a:t>Sistema web · Next.js + SQLite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0">
                <a:solidFill>
                  <a:srgbClr val="122F27"/>
                </a:solidFill>
                <a:latin typeface="Georgia"/>
              </a:rPr>
              <a:t>O caderno da portaria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1">
                <a:solidFill>
                  <a:srgbClr val="8A5F1E"/>
                </a:solidFill>
                <a:latin typeface="Georgia"/>
              </a:rPr>
              <a:t>não dá mais conta.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9418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64746E"/>
                </a:solidFill>
                <a:latin typeface="Segoe UI"/>
              </a:rPr>
              <a:t>Quatro áreas, dezenas de moradores e regras que hoje vivem na memória de cada um.</a:t>
            </a:r>
          </a:p>
        </p:txBody>
      </p:sp>
      <p:pic>
        <p:nvPicPr>
          <p:cNvPr id="5" name="Picture 4" descr="emblem-sc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384048"/>
            <a:ext cx="420624" cy="42062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2514600"/>
            <a:ext cx="3429000" cy="214884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724912"/>
            <a:ext cx="310896" cy="31089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7249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18211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122F27"/>
                </a:solidFill>
                <a:latin typeface="Segoe UI"/>
              </a:rPr>
              <a:t>Briga por horário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547872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50" b="0" i="0">
                <a:solidFill>
                  <a:srgbClr val="64746E"/>
                </a:solidFill>
                <a:latin typeface="Segoe UI"/>
              </a:rPr>
              <a:t>Duas famílias acreditam ter reservado o mesmo espaço no mesmo horário.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42232" y="2514600"/>
            <a:ext cx="3429000" cy="214884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98264" y="2724912"/>
            <a:ext cx="310896" cy="31089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8264" y="27249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264" y="318211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122F27"/>
                </a:solidFill>
                <a:latin typeface="Segoe UI"/>
              </a:rPr>
              <a:t>Agenda invisível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8264" y="3547872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50" b="0" i="0">
                <a:solidFill>
                  <a:srgbClr val="64746E"/>
                </a:solidFill>
                <a:latin typeface="Segoe UI"/>
              </a:rPr>
              <a:t>O morador não sabe se a quadra está livre, quem reservou ou quando será liberada.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90104" y="2514600"/>
            <a:ext cx="3429000" cy="214884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46136" y="2724912"/>
            <a:ext cx="310896" cy="31089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6136" y="27249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6136" y="318211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122F27"/>
                </a:solidFill>
                <a:latin typeface="Segoe UI"/>
              </a:rPr>
              <a:t>Regras sem registro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46136" y="3547872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50" b="0" i="0">
                <a:solidFill>
                  <a:srgbClr val="64746E"/>
                </a:solidFill>
                <a:latin typeface="Segoe UI"/>
              </a:rPr>
              <a:t>Aprovações, bloqueios e multas ficam informais — e difíceis de cobrar depois.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074920"/>
            <a:ext cx="11000232" cy="960120"/>
          </a:xfrm>
          <a:prstGeom prst="roundRect">
            <a:avLst>
              <a:gd name="adj" fmla="val 5000"/>
            </a:avLst>
          </a:prstGeom>
          <a:solidFill>
            <a:srgbClr val="122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30368"/>
            <a:ext cx="9509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0" i="1">
                <a:solidFill>
                  <a:srgbClr val="F7F2E8"/>
                </a:solidFill>
                <a:latin typeface="Georgia"/>
              </a:rPr>
              <a:t>“Hoje isso é feito num caderno na portaria e sempre dá briga por horário.”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850" b="0" i="0">
                <a:solidFill>
                  <a:srgbClr val="EAC469"/>
                </a:solidFill>
                <a:latin typeface="Segoe UI"/>
              </a:rPr>
              <a:t>— a realidade que o Área Comum resolve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6473952"/>
            <a:ext cx="11000232" cy="10972"/>
          </a:xfrm>
          <a:prstGeom prst="rect">
            <a:avLst/>
          </a:prstGeom>
          <a:solidFill>
            <a:srgbClr val="E7DD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6537960"/>
            <a:ext cx="6858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Condomínio São Cristóvão · Área Comum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6537960"/>
            <a:ext cx="9418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A SOLUÇÃO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0">
                <a:solidFill>
                  <a:srgbClr val="122F27"/>
                </a:solidFill>
                <a:latin typeface="Georgia"/>
              </a:rPr>
              <a:t>Um sistema de verdade —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1">
                <a:solidFill>
                  <a:srgbClr val="8A5F1E"/>
                </a:solidFill>
                <a:latin typeface="Georgia"/>
              </a:rPr>
              <a:t>não só telas bonitas.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4892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64746E"/>
                </a:solidFill>
                <a:latin typeface="Segoe UI"/>
              </a:rPr>
              <a:t>Agenda, regras, aprovações, pagamentos e avisos no mesmo lugar, com permissões por perfil.</a:t>
            </a:r>
          </a:p>
        </p:txBody>
      </p:sp>
      <p:pic>
        <p:nvPicPr>
          <p:cNvPr id="5" name="Picture 4" descr="emblem-sc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384048"/>
            <a:ext cx="420624" cy="420624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621792" y="2505456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5054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Agenda e calendário das 4 áreas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34056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00" b="0" i="0">
                <a:solidFill>
                  <a:srgbClr val="64746E"/>
                </a:solidFill>
                <a:latin typeface="Segoe UI"/>
              </a:rPr>
              <a:t>Visão mensal, por dia e por espaço, com bloqueios de manutenção.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346704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33467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10128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Regras e aprovações automáticas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75304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00" b="0" i="0">
                <a:solidFill>
                  <a:srgbClr val="64746E"/>
                </a:solidFill>
                <a:latin typeface="Segoe UI"/>
              </a:rPr>
              <a:t>Conflito de horário, antecedência, limite de convidados e 2 reservas futuras.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187952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8795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151376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Pagamentos e notificações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16552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00" b="0" i="0">
                <a:solidFill>
                  <a:srgbClr val="64746E"/>
                </a:solidFill>
                <a:latin typeface="Segoe UI"/>
              </a:rPr>
              <a:t>Multas com PIX/cartão simulado, comprovante e central de avisos.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" y="5029200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502920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992624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Permissões garantidas no servidor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2578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900" b="0" i="0">
                <a:solidFill>
                  <a:srgbClr val="64746E"/>
                </a:solidFill>
                <a:latin typeface="Segoe UI"/>
              </a:rPr>
              <a:t>Cada papel vê e faz somente o que lhe cabe — em cada API e consulta.</a:t>
            </a:r>
          </a:p>
        </p:txBody>
      </p:sp>
      <p:pic>
        <p:nvPicPr>
          <p:cNvPr id="22" name="Picture 21" descr="visao-ge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556276"/>
            <a:ext cx="5897880" cy="433980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852160" y="619963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0" y="6199632"/>
            <a:ext cx="10515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750" b="1" i="0">
                <a:solidFill>
                  <a:srgbClr val="8A5F1E"/>
                </a:solidFill>
                <a:latin typeface="Segoe UI"/>
              </a:rPr>
              <a:t>Visão do morador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67728" y="6199632"/>
            <a:ext cx="1554480" cy="237744"/>
          </a:xfrm>
          <a:prstGeom prst="roundRect">
            <a:avLst>
              <a:gd name="adj" fmla="val 50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67728" y="6199632"/>
            <a:ext cx="15544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750" b="1" i="0">
                <a:solidFill>
                  <a:srgbClr val="64746E"/>
                </a:solidFill>
                <a:latin typeface="Segoe UI"/>
              </a:rPr>
              <a:t>Dados reais de demonstração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6473952"/>
            <a:ext cx="11000232" cy="10972"/>
          </a:xfrm>
          <a:prstGeom prst="rect">
            <a:avLst/>
          </a:prstGeom>
          <a:solidFill>
            <a:srgbClr val="E7DD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537960"/>
            <a:ext cx="6858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Condomínio São Cristóvão · Área Comum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52760" y="6537960"/>
            <a:ext cx="9418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EXPERIÊNCIA DO MORADOR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0">
                <a:solidFill>
                  <a:srgbClr val="122F27"/>
                </a:solidFill>
                <a:latin typeface="Georgia"/>
              </a:rPr>
              <a:t>Do celular para a agenda,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1">
                <a:solidFill>
                  <a:srgbClr val="8A5F1E"/>
                </a:solidFill>
                <a:latin typeface="Georgia"/>
              </a:rPr>
              <a:t>em poucos toques.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9418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64746E"/>
                </a:solidFill>
                <a:latin typeface="Segoe UI"/>
              </a:rPr>
              <a:t>O morador consulta a disponibilidade, reserva, paga multas e recebe avisos sem passar na portaria.</a:t>
            </a:r>
          </a:p>
        </p:txBody>
      </p:sp>
      <p:pic>
        <p:nvPicPr>
          <p:cNvPr id="5" name="Picture 4" descr="emblem-sc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384048"/>
            <a:ext cx="420624" cy="42062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2148840"/>
            <a:ext cx="3593592" cy="3794760"/>
          </a:xfrm>
          <a:prstGeom prst="roundRect">
            <a:avLst>
              <a:gd name="adj" fmla="val 4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sao-ge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729" y="2286000"/>
            <a:ext cx="3168852" cy="233172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777240" y="4681728"/>
            <a:ext cx="274320" cy="274320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6817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6542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Visão geral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10912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880" b="0" i="0">
                <a:solidFill>
                  <a:srgbClr val="64746E"/>
                </a:solidFill>
                <a:latin typeface="Segoe UI"/>
              </a:rPr>
              <a:t>Próxima reserva, calendário do mês e situação do apartamento.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2148840"/>
            <a:ext cx="3593592" cy="3794760"/>
          </a:xfrm>
          <a:prstGeom prst="roundRect">
            <a:avLst>
              <a:gd name="adj" fmla="val 4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gen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601" y="2286000"/>
            <a:ext cx="3091493" cy="233172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599432" y="4681728"/>
            <a:ext cx="274320" cy="274320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46817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5192" y="46542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Agenda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5010912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880" b="0" i="0">
                <a:solidFill>
                  <a:srgbClr val="64746E"/>
                </a:solidFill>
                <a:latin typeface="Segoe UI"/>
              </a:rPr>
              <a:t>Escolhe data, área e horário; as regras são conferidas na hora.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38744" y="2148840"/>
            <a:ext cx="3593592" cy="3794760"/>
          </a:xfrm>
          <a:prstGeom prst="roundRect">
            <a:avLst>
              <a:gd name="adj" fmla="val 4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nh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1432" y="2286000"/>
            <a:ext cx="3228215" cy="233172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8421624" y="4681728"/>
            <a:ext cx="274320" cy="274320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1624" y="46817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7384" y="46542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Minhas reservas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1624" y="5010912"/>
            <a:ext cx="3200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880" b="0" i="0">
                <a:solidFill>
                  <a:srgbClr val="64746E"/>
                </a:solidFill>
                <a:latin typeface="Segoe UI"/>
              </a:rPr>
              <a:t>Acompanha solicitações, cancela e recebe notificações.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6053328"/>
            <a:ext cx="11000232" cy="274320"/>
          </a:xfrm>
          <a:prstGeom prst="roundRect">
            <a:avLst>
              <a:gd name="adj" fmla="val 50000"/>
            </a:avLst>
          </a:prstGeom>
          <a:solidFill>
            <a:srgbClr val="122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6089904"/>
            <a:ext cx="10607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0" i="0">
                <a:solidFill>
                  <a:srgbClr val="F7F2E8"/>
                </a:solidFill>
                <a:latin typeface="Segoe UI"/>
              </a:rPr>
              <a:t>Salão e churrasqueira passam pela aprovação do síndico · quadra e sala confirmam na hora.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6473952"/>
            <a:ext cx="11000232" cy="10972"/>
          </a:xfrm>
          <a:prstGeom prst="rect">
            <a:avLst/>
          </a:prstGeom>
          <a:solidFill>
            <a:srgbClr val="E7DD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6537960"/>
            <a:ext cx="6858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Condomínio São Cristóvão · Área Comum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52760" y="6537960"/>
            <a:ext cx="9418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0">
                <a:solidFill>
                  <a:srgbClr val="122F27"/>
                </a:solidFill>
                <a:latin typeface="Georgia"/>
              </a:rPr>
              <a:t>Calendário mensal e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1">
                <a:solidFill>
                  <a:srgbClr val="8A5F1E"/>
                </a:solidFill>
                <a:latin typeface="Georgia"/>
              </a:rPr>
              <a:t>agenda por área.</a:t>
            </a:r>
          </a:p>
        </p:txBody>
      </p:sp>
      <p:pic>
        <p:nvPicPr>
          <p:cNvPr id="4" name="Picture 3" descr="emblem-sc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3840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9792" y="1261872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50" b="0" i="0">
                <a:solidFill>
                  <a:srgbClr val="64746E"/>
                </a:solidFill>
                <a:latin typeface="Segoe UI"/>
              </a:rPr>
              <a:t>Uma leitura rápida do mês inteiro e o detalhe de cada espaço.</a:t>
            </a:r>
          </a:p>
        </p:txBody>
      </p:sp>
      <p:pic>
        <p:nvPicPr>
          <p:cNvPr id="6" name="Picture 5" descr="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03" y="1783080"/>
            <a:ext cx="6061752" cy="4571999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7479792" y="1984248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9792" y="198424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938528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Calendário do mês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212848"/>
            <a:ext cx="38404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 i="0">
                <a:solidFill>
                  <a:srgbClr val="64746E"/>
                </a:solidFill>
                <a:latin typeface="Segoe UI"/>
              </a:rPr>
              <a:t>Reservas confirmadas e pendentes aparecem com pontos coloridos por área.</a:t>
            </a:r>
          </a:p>
        </p:txBody>
      </p:sp>
      <p:sp>
        <p:nvSpPr>
          <p:cNvPr id="11" name="Oval 10"/>
          <p:cNvSpPr/>
          <p:nvPr/>
        </p:nvSpPr>
        <p:spPr>
          <a:xfrm>
            <a:off x="7479792" y="3108960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9792" y="310896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063240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Bloqueios de manutenção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37560"/>
            <a:ext cx="38404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 i="0">
                <a:solidFill>
                  <a:srgbClr val="64746E"/>
                </a:solidFill>
                <a:latin typeface="Segoe UI"/>
              </a:rPr>
              <a:t>O síndico marca o dia; a agenda e o formulário refletem imediatamente.</a:t>
            </a:r>
          </a:p>
        </p:txBody>
      </p:sp>
      <p:sp>
        <p:nvSpPr>
          <p:cNvPr id="15" name="Oval 14"/>
          <p:cNvSpPr/>
          <p:nvPr/>
        </p:nvSpPr>
        <p:spPr>
          <a:xfrm>
            <a:off x="7479792" y="4233671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79792" y="4233671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187951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Agenda de 21 dias por área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462271"/>
            <a:ext cx="38404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00" b="0" i="0">
                <a:solidFill>
                  <a:srgbClr val="64746E"/>
                </a:solidFill>
                <a:latin typeface="Segoe UI"/>
              </a:rPr>
              <a:t>O morador vê os próximos dias, horários livres e regras específicas.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5230368"/>
            <a:ext cx="4069080" cy="868680"/>
          </a:xfrm>
          <a:prstGeom prst="roundRect">
            <a:avLst>
              <a:gd name="adj" fmla="val 5000"/>
            </a:avLst>
          </a:prstGeom>
          <a:solidFill>
            <a:srgbClr val="122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5358384"/>
            <a:ext cx="36118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F7F2E8"/>
                </a:solidFill>
                <a:latin typeface="Segoe UI"/>
              </a:rPr>
              <a:t>Uma fonte de verdade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 i="0">
                <a:solidFill>
                  <a:srgbClr val="B9CFC4"/>
                </a:solidFill>
                <a:latin typeface="Segoe UI"/>
              </a:rPr>
              <a:t>para moradores, síndico e portaria.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6473952"/>
            <a:ext cx="11000232" cy="10972"/>
          </a:xfrm>
          <a:prstGeom prst="rect">
            <a:avLst/>
          </a:prstGeom>
          <a:solidFill>
            <a:srgbClr val="E7DD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6537960"/>
            <a:ext cx="6858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Condomínio São Cristóvão · Área Comum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60" y="6537960"/>
            <a:ext cx="9418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F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4023360"/>
            <a:ext cx="3291840" cy="3291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45720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EAC469"/>
                </a:solidFill>
                <a:latin typeface="Segoe UI"/>
              </a:rPr>
              <a:t>REGRAS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58952"/>
            <a:ext cx="89611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3200" b="0" i="0">
                <a:solidFill>
                  <a:srgbClr val="F7F2E8"/>
                </a:solidFill>
                <a:latin typeface="Georgia"/>
              </a:rPr>
              <a:t>As regras valem no servidor.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B9CFC4"/>
                </a:solidFill>
                <a:latin typeface="Segoe UI"/>
              </a:rPr>
              <a:t>A tela orienta. A API e o banco garantem que a regra seja cumprida.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423160"/>
            <a:ext cx="3364992" cy="1325880"/>
          </a:xfrm>
          <a:prstGeom prst="roundRect">
            <a:avLst>
              <a:gd name="adj" fmla="val 5000"/>
            </a:avLst>
          </a:prstGeom>
          <a:solidFill>
            <a:srgbClr val="1B4036"/>
          </a:solidFill>
          <a:ln w="11430">
            <a:solidFill>
              <a:srgbClr val="3A5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5694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0" i="0">
                <a:solidFill>
                  <a:srgbClr val="EAC469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2578608"/>
            <a:ext cx="2468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1" i="0">
                <a:solidFill>
                  <a:srgbClr val="F7F2E8"/>
                </a:solidFill>
                <a:latin typeface="Segoe UI"/>
              </a:rPr>
              <a:t>Sem sobreposição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990088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30" b="0" i="0">
                <a:solidFill>
                  <a:srgbClr val="C4D6CC"/>
                </a:solidFill>
                <a:latin typeface="Segoe UI"/>
              </a:rPr>
              <a:t>Duas reservas não ocupam o mesmo horário na mesma área.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2423160"/>
            <a:ext cx="3364992" cy="1325880"/>
          </a:xfrm>
          <a:prstGeom prst="roundRect">
            <a:avLst>
              <a:gd name="adj" fmla="val 5000"/>
            </a:avLst>
          </a:prstGeom>
          <a:solidFill>
            <a:srgbClr val="1B4036"/>
          </a:solidFill>
          <a:ln w="11430">
            <a:solidFill>
              <a:srgbClr val="3A5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1688" y="25694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0" i="0">
                <a:solidFill>
                  <a:srgbClr val="EAC469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578608"/>
            <a:ext cx="2468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1" i="0">
                <a:solidFill>
                  <a:srgbClr val="F7F2E8"/>
                </a:solidFill>
                <a:latin typeface="Segoe UI"/>
              </a:rPr>
              <a:t>Até 2 futuras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990088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30" b="0" i="0">
                <a:solidFill>
                  <a:srgbClr val="C4D6CC"/>
                </a:solidFill>
                <a:latin typeface="Segoe UI"/>
              </a:rPr>
              <a:t>Cada apartamento mantém no máximo duas reservas futuras.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2423160"/>
            <a:ext cx="3364992" cy="1325880"/>
          </a:xfrm>
          <a:prstGeom prst="roundRect">
            <a:avLst>
              <a:gd name="adj" fmla="val 5000"/>
            </a:avLst>
          </a:prstGeom>
          <a:solidFill>
            <a:srgbClr val="1B4036"/>
          </a:solidFill>
          <a:ln w="11430">
            <a:solidFill>
              <a:srgbClr val="3A5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8" y="256946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0" i="0">
                <a:solidFill>
                  <a:srgbClr val="EAC469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911" y="2578608"/>
            <a:ext cx="2468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1" i="0">
                <a:solidFill>
                  <a:srgbClr val="F7F2E8"/>
                </a:solidFill>
                <a:latin typeface="Segoe UI"/>
              </a:rPr>
              <a:t>3 dias + aprovação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990088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30" b="0" i="0">
                <a:solidFill>
                  <a:srgbClr val="C4D6CC"/>
                </a:solidFill>
                <a:latin typeface="Segoe UI"/>
              </a:rPr>
              <a:t>Salão e churrasqueira exigem antecedência e análise do síndico.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931920"/>
            <a:ext cx="3364992" cy="1325880"/>
          </a:xfrm>
          <a:prstGeom prst="roundRect">
            <a:avLst>
              <a:gd name="adj" fmla="val 5000"/>
            </a:avLst>
          </a:prstGeom>
          <a:solidFill>
            <a:srgbClr val="1B4036"/>
          </a:solidFill>
          <a:ln w="11430">
            <a:solidFill>
              <a:srgbClr val="3A5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07822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0" i="0">
                <a:solidFill>
                  <a:srgbClr val="EAC469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87368"/>
            <a:ext cx="2468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1" i="0">
                <a:solidFill>
                  <a:srgbClr val="F7F2E8"/>
                </a:solidFill>
                <a:latin typeface="Segoe UI"/>
              </a:rPr>
              <a:t>Limite de convidados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4498848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30" b="0" i="0">
                <a:solidFill>
                  <a:srgbClr val="C4D6CC"/>
                </a:solidFill>
                <a:latin typeface="Segoe UI"/>
              </a:rPr>
              <a:t>Cada área tem seu próprio teto de pessoas por reserva.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3931920"/>
            <a:ext cx="3364992" cy="1325880"/>
          </a:xfrm>
          <a:prstGeom prst="roundRect">
            <a:avLst>
              <a:gd name="adj" fmla="val 5000"/>
            </a:avLst>
          </a:prstGeom>
          <a:solidFill>
            <a:srgbClr val="1B4036"/>
          </a:solidFill>
          <a:ln w="11430">
            <a:solidFill>
              <a:srgbClr val="3A5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407822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0" i="0">
                <a:solidFill>
                  <a:srgbClr val="EAC469"/>
                </a:solidFill>
                <a:latin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3752" y="4087368"/>
            <a:ext cx="2468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1" i="0">
                <a:solidFill>
                  <a:srgbClr val="F7F2E8"/>
                </a:solidFill>
                <a:latin typeface="Segoe UI"/>
              </a:rPr>
              <a:t>Multa de R$ 50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498848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30" b="0" i="0">
                <a:solidFill>
                  <a:srgbClr val="C4D6CC"/>
                </a:solidFill>
                <a:latin typeface="Segoe UI"/>
              </a:rPr>
              <a:t>Cancelamento com menos de 24 horas gera multa registrada.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79" y="3931920"/>
            <a:ext cx="3364992" cy="1325880"/>
          </a:xfrm>
          <a:prstGeom prst="roundRect">
            <a:avLst>
              <a:gd name="adj" fmla="val 5000"/>
            </a:avLst>
          </a:prstGeom>
          <a:solidFill>
            <a:srgbClr val="1B4036"/>
          </a:solidFill>
          <a:ln w="11430">
            <a:solidFill>
              <a:srgbClr val="3A5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7848" y="407822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0" i="0">
                <a:solidFill>
                  <a:srgbClr val="EAC469"/>
                </a:solidFill>
                <a:latin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9911" y="4087368"/>
            <a:ext cx="246888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1" i="0">
                <a:solidFill>
                  <a:srgbClr val="F7F2E8"/>
                </a:solidFill>
                <a:latin typeface="Segoe UI"/>
              </a:rPr>
              <a:t>Multa bloqueia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7848" y="4498848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30" b="0" i="0">
                <a:solidFill>
                  <a:srgbClr val="C4D6CC"/>
                </a:solidFill>
                <a:latin typeface="Segoe UI"/>
              </a:rPr>
              <a:t>Apartamento com multa em aberto não faz nova reserva.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779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1">
                <a:solidFill>
                  <a:srgbClr val="EAC469"/>
                </a:solidFill>
                <a:latin typeface="Georgia"/>
              </a:rPr>
              <a:t>“Cada pessoa só pode ver e fazer o que o papel dela permite — e isso é garantido no servidor.”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6473952"/>
            <a:ext cx="11000232" cy="10972"/>
          </a:xfrm>
          <a:prstGeom prst="rect">
            <a:avLst/>
          </a:prstGeom>
          <a:solidFill>
            <a:srgbClr val="3A5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6537960"/>
            <a:ext cx="6858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7E8E86"/>
                </a:solidFill>
                <a:latin typeface="Segoe UI"/>
              </a:rPr>
              <a:t>Condomínio São Cristóvão · Área Comum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52760" y="6537960"/>
            <a:ext cx="9418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7E8E86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SÍNDICO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0">
                <a:solidFill>
                  <a:srgbClr val="122F27"/>
                </a:solidFill>
                <a:latin typeface="Georgia"/>
              </a:rPr>
              <a:t>O síndico no controle,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1">
                <a:solidFill>
                  <a:srgbClr val="8A5F1E"/>
                </a:solidFill>
                <a:latin typeface="Georgia"/>
              </a:rPr>
              <a:t>sem planilhas.</a:t>
            </a:r>
          </a:p>
        </p:txBody>
      </p:sp>
      <p:pic>
        <p:nvPicPr>
          <p:cNvPr id="4" name="Picture 3" descr="emblem-sc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3840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86600" y="1243584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30" b="0" i="0">
                <a:solidFill>
                  <a:srgbClr val="64746E"/>
                </a:solidFill>
                <a:latin typeface="Segoe UI"/>
              </a:rPr>
              <a:t>Aprovações, áreas, manutenção, multas e uso do mês em um painel só.</a:t>
            </a:r>
          </a:p>
        </p:txBody>
      </p:sp>
      <p:pic>
        <p:nvPicPr>
          <p:cNvPr id="6" name="Picture 5" descr="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70" y="1783080"/>
            <a:ext cx="5694818" cy="45719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086600" y="171907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719072"/>
            <a:ext cx="10515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750" b="1" i="0">
                <a:solidFill>
                  <a:srgbClr val="8A5F1E"/>
                </a:solidFill>
                <a:latin typeface="Segoe UI"/>
              </a:rPr>
              <a:t>2 pendentes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19072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FBE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19072"/>
            <a:ext cx="1325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750" b="1" i="0">
                <a:solidFill>
                  <a:srgbClr val="9E1F45"/>
                </a:solidFill>
                <a:latin typeface="Segoe UI"/>
              </a:rPr>
              <a:t>R$ 50 em aberto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171907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1719072"/>
            <a:ext cx="1783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750" b="1" i="0">
                <a:solidFill>
                  <a:srgbClr val="64746E"/>
                </a:solidFill>
                <a:latin typeface="Segoe UI"/>
              </a:rPr>
              <a:t>8 reservas no mês</a:t>
            </a:r>
          </a:p>
        </p:txBody>
      </p:sp>
      <p:sp>
        <p:nvSpPr>
          <p:cNvPr id="13" name="Oval 12"/>
          <p:cNvSpPr/>
          <p:nvPr/>
        </p:nvSpPr>
        <p:spPr>
          <a:xfrm>
            <a:off x="7086600" y="2414016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241401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7" y="2377440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122F27"/>
                </a:solidFill>
                <a:latin typeface="Segoe UI"/>
              </a:rPr>
              <a:t>Aprovações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4927" y="2633472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69" b="0" i="0">
                <a:solidFill>
                  <a:srgbClr val="64746E"/>
                </a:solidFill>
                <a:latin typeface="Segoe UI"/>
              </a:rPr>
              <a:t>Aprova ou recusa solicitações com um clique.</a:t>
            </a:r>
          </a:p>
        </p:txBody>
      </p:sp>
      <p:sp>
        <p:nvSpPr>
          <p:cNvPr id="17" name="Oval 16"/>
          <p:cNvSpPr/>
          <p:nvPr/>
        </p:nvSpPr>
        <p:spPr>
          <a:xfrm>
            <a:off x="7086600" y="3328416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332841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7" y="3291840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122F27"/>
                </a:solidFill>
                <a:latin typeface="Segoe UI"/>
              </a:rPr>
              <a:t>Áreas e regras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3547872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69" b="0" i="0">
                <a:solidFill>
                  <a:srgbClr val="64746E"/>
                </a:solidFill>
                <a:latin typeface="Segoe UI"/>
              </a:rPr>
              <a:t>Cadastra espaços, limite de convidados, antecedência e aprovação.</a:t>
            </a:r>
          </a:p>
        </p:txBody>
      </p:sp>
      <p:sp>
        <p:nvSpPr>
          <p:cNvPr id="21" name="Oval 20"/>
          <p:cNvSpPr/>
          <p:nvPr/>
        </p:nvSpPr>
        <p:spPr>
          <a:xfrm>
            <a:off x="7086600" y="4242816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424281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7" y="4206240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122F27"/>
                </a:solidFill>
                <a:latin typeface="Segoe UI"/>
              </a:rPr>
              <a:t>Manutenção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4927" y="4462272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69" b="0" i="0">
                <a:solidFill>
                  <a:srgbClr val="64746E"/>
                </a:solidFill>
                <a:latin typeface="Segoe UI"/>
              </a:rPr>
              <a:t>Bloqueia datas e o sistema impede reservas naquele dia.</a:t>
            </a:r>
          </a:p>
        </p:txBody>
      </p:sp>
      <p:sp>
        <p:nvSpPr>
          <p:cNvPr id="25" name="Oval 24"/>
          <p:cNvSpPr/>
          <p:nvPr/>
        </p:nvSpPr>
        <p:spPr>
          <a:xfrm>
            <a:off x="7086600" y="5157216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515721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7" y="5120640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122F27"/>
                </a:solidFill>
                <a:latin typeface="Segoe UI"/>
              </a:rPr>
              <a:t>Multas e uso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7" y="5376672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69" b="0" i="0">
                <a:solidFill>
                  <a:srgbClr val="64746E"/>
                </a:solidFill>
                <a:latin typeface="Segoe UI"/>
              </a:rPr>
              <a:t>Quita multas e acompanha horas, convidados e ocupação por área.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473952"/>
            <a:ext cx="11000232" cy="10972"/>
          </a:xfrm>
          <a:prstGeom prst="rect">
            <a:avLst/>
          </a:prstGeom>
          <a:solidFill>
            <a:srgbClr val="E7DD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6537960"/>
            <a:ext cx="6858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Condomínio São Cristóvão · Área Comum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52760" y="6537960"/>
            <a:ext cx="9418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PORTARIA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0">
                <a:solidFill>
                  <a:srgbClr val="122F27"/>
                </a:solidFill>
                <a:latin typeface="Georgia"/>
              </a:rPr>
              <a:t>A portaria vê só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1">
                <a:solidFill>
                  <a:srgbClr val="8A5F1E"/>
                </a:solidFill>
                <a:latin typeface="Georgia"/>
              </a:rPr>
              <a:t>o que precisa.</a:t>
            </a:r>
          </a:p>
        </p:txBody>
      </p:sp>
      <p:pic>
        <p:nvPicPr>
          <p:cNvPr id="4" name="Picture 3" descr="emblem-sc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3840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5472" y="124358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30" b="0" i="0">
                <a:solidFill>
                  <a:srgbClr val="64746E"/>
                </a:solidFill>
                <a:latin typeface="Segoe UI"/>
              </a:rPr>
              <a:t>Reservas do dia, nome, apartamento e convidados — com entrega e devolução de chave.</a:t>
            </a:r>
          </a:p>
        </p:txBody>
      </p:sp>
      <p:pic>
        <p:nvPicPr>
          <p:cNvPr id="6" name="Picture 5" descr="portar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682" y="1783080"/>
            <a:ext cx="6329834" cy="4572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7205472" y="1938528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5472" y="19385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01952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122F27"/>
                </a:solidFill>
                <a:latin typeface="Segoe UI"/>
              </a:rPr>
              <a:t>Somente o 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48840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69" b="0" i="0">
                <a:solidFill>
                  <a:srgbClr val="64746E"/>
                </a:solidFill>
                <a:latin typeface="Segoe UI"/>
              </a:rPr>
              <a:t>A portaria não acessa a agenda futura nem outros dias.</a:t>
            </a:r>
          </a:p>
        </p:txBody>
      </p:sp>
      <p:sp>
        <p:nvSpPr>
          <p:cNvPr id="11" name="Oval 10"/>
          <p:cNvSpPr/>
          <p:nvPr/>
        </p:nvSpPr>
        <p:spPr>
          <a:xfrm>
            <a:off x="7205472" y="2807208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5472" y="280720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770632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122F27"/>
                </a:solidFill>
                <a:latin typeface="Segoe UI"/>
              </a:rPr>
              <a:t>Quem e quantos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017520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69" b="0" i="0">
                <a:solidFill>
                  <a:srgbClr val="64746E"/>
                </a:solidFill>
                <a:latin typeface="Segoe UI"/>
              </a:rPr>
              <a:t>Nome do morador, apartamento e número de convidados.</a:t>
            </a:r>
          </a:p>
        </p:txBody>
      </p:sp>
      <p:sp>
        <p:nvSpPr>
          <p:cNvPr id="15" name="Oval 14"/>
          <p:cNvSpPr/>
          <p:nvPr/>
        </p:nvSpPr>
        <p:spPr>
          <a:xfrm>
            <a:off x="7205472" y="3675887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3675887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3639312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122F27"/>
                </a:solidFill>
                <a:latin typeface="Segoe UI"/>
              </a:rPr>
              <a:t>Chave controlada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3886200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69" b="0" i="0">
                <a:solidFill>
                  <a:srgbClr val="64746E"/>
                </a:solidFill>
                <a:latin typeface="Segoe UI"/>
              </a:rPr>
              <a:t>Entrega e devolução registradas com data e hora.</a:t>
            </a:r>
          </a:p>
        </p:txBody>
      </p:sp>
      <p:sp>
        <p:nvSpPr>
          <p:cNvPr id="19" name="Oval 18"/>
          <p:cNvSpPr/>
          <p:nvPr/>
        </p:nvSpPr>
        <p:spPr>
          <a:xfrm>
            <a:off x="7205472" y="4544567"/>
            <a:ext cx="219456" cy="219456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4544567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9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4507992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122F27"/>
                </a:solidFill>
                <a:latin typeface="Segoe UI"/>
              </a:rPr>
              <a:t>Privacidade por padrão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4754879"/>
            <a:ext cx="3931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69" b="0" i="0">
                <a:solidFill>
                  <a:srgbClr val="64746E"/>
                </a:solidFill>
                <a:latin typeface="Segoe UI"/>
              </a:rPr>
              <a:t>O filtro é aplicado no servidor, não apenas na interface.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05472" y="5532120"/>
            <a:ext cx="4160520" cy="566928"/>
          </a:xfrm>
          <a:prstGeom prst="roundRect">
            <a:avLst>
              <a:gd name="adj" fmla="val 5000"/>
            </a:avLst>
          </a:prstGeom>
          <a:solidFill>
            <a:srgbClr val="122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88352" y="5632704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0" i="1">
                <a:solidFill>
                  <a:srgbClr val="F7F2E8"/>
                </a:solidFill>
                <a:latin typeface="Georgia"/>
              </a:rPr>
              <a:t>“Sem expor a agenda futura nem dados de outros dias.”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6473952"/>
            <a:ext cx="11000232" cy="10972"/>
          </a:xfrm>
          <a:prstGeom prst="rect">
            <a:avLst/>
          </a:prstGeom>
          <a:solidFill>
            <a:srgbClr val="E7DD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6537960"/>
            <a:ext cx="6858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Condomínio São Cristóvão · Área Comum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52760" y="6537960"/>
            <a:ext cx="9418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PAGAMENTOS &amp; AVISOS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0">
                <a:solidFill>
                  <a:srgbClr val="122F27"/>
                </a:solidFill>
                <a:latin typeface="Georgia"/>
              </a:rPr>
              <a:t>Multas e avisos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1">
                <a:solidFill>
                  <a:srgbClr val="8A5F1E"/>
                </a:solidFill>
                <a:latin typeface="Georgia"/>
              </a:rPr>
              <a:t>sem ruído.</a:t>
            </a:r>
          </a:p>
        </p:txBody>
      </p:sp>
      <p:pic>
        <p:nvPicPr>
          <p:cNvPr id="4" name="Picture 3" descr="emblem-sc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3840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2801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930" b="0" i="0">
                <a:solidFill>
                  <a:srgbClr val="64746E"/>
                </a:solidFill>
                <a:latin typeface="Segoe UI"/>
              </a:rPr>
              <a:t>Pagamento com comprovante e central de avisos para cada evento.</a:t>
            </a:r>
          </a:p>
        </p:txBody>
      </p:sp>
      <p:pic>
        <p:nvPicPr>
          <p:cNvPr id="6" name="Picture 5" descr="paga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27" y="1783080"/>
            <a:ext cx="2703905" cy="2926080"/>
          </a:xfrm>
          <a:prstGeom prst="rect">
            <a:avLst/>
          </a:prstGeom>
        </p:spPr>
      </p:pic>
      <p:pic>
        <p:nvPicPr>
          <p:cNvPr id="7" name="Picture 6" descr="notificaco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9664" y="1783080"/>
            <a:ext cx="4487870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49640" y="1965960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1" i="0">
                <a:solidFill>
                  <a:srgbClr val="122F27"/>
                </a:solidFill>
                <a:latin typeface="Segoe UI"/>
              </a:rPr>
              <a:t>PIX ou cartão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19456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30" b="0" i="0">
                <a:solidFill>
                  <a:srgbClr val="64746E"/>
                </a:solidFill>
                <a:latin typeface="Segoe UI"/>
              </a:rPr>
              <a:t>Fluxo de demonstração com comprovante e quitação imediata.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2743200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1" i="0">
                <a:solidFill>
                  <a:srgbClr val="122F27"/>
                </a:solidFill>
                <a:latin typeface="Segoe UI"/>
              </a:rPr>
              <a:t>Síndico também quita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97180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30" b="0" i="0">
                <a:solidFill>
                  <a:srgbClr val="64746E"/>
                </a:solidFill>
                <a:latin typeface="Segoe UI"/>
              </a:rPr>
              <a:t>Registro manual no painel para casos presenciais.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520439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1" i="0">
                <a:solidFill>
                  <a:srgbClr val="122F27"/>
                </a:solidFill>
                <a:latin typeface="Segoe UI"/>
              </a:rPr>
              <a:t>Notificações reais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3749039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30" b="0" i="0">
                <a:solidFill>
                  <a:srgbClr val="64746E"/>
                </a:solidFill>
                <a:latin typeface="Segoe UI"/>
              </a:rPr>
              <a:t>Reservas, aprovações, multas, chaves e manutenção.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4297679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1" i="0">
                <a:solidFill>
                  <a:srgbClr val="122F27"/>
                </a:solidFill>
                <a:latin typeface="Segoe UI"/>
              </a:rPr>
              <a:t>Marcar como lidas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526279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30" b="0" i="0">
                <a:solidFill>
                  <a:srgbClr val="64746E"/>
                </a:solidFill>
                <a:latin typeface="Segoe UI"/>
              </a:rPr>
              <a:t>Cada usuário vê somente os próprios avisos.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230368"/>
            <a:ext cx="11000232" cy="566928"/>
          </a:xfrm>
          <a:prstGeom prst="roundRect">
            <a:avLst>
              <a:gd name="adj" fmla="val 5000"/>
            </a:avLst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33095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80" b="1" i="0">
                <a:solidFill>
                  <a:srgbClr val="8A5F1E"/>
                </a:solidFill>
                <a:latin typeface="Segoe UI"/>
              </a:rPr>
              <a:t>Pagamento simulado nesta demonstração. Em produção, integra-se a um gateway PIX/PSP.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6473952"/>
            <a:ext cx="11000232" cy="10972"/>
          </a:xfrm>
          <a:prstGeom prst="rect">
            <a:avLst/>
          </a:prstGeom>
          <a:solidFill>
            <a:srgbClr val="E7DD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6537960"/>
            <a:ext cx="6858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Condomínio São Cristóvão · Área Comum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6537960"/>
            <a:ext cx="9418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TECNOLOGIA &amp; SEGURANÇA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0">
                <a:solidFill>
                  <a:srgbClr val="122F27"/>
                </a:solidFill>
                <a:latin typeface="Georgia"/>
              </a:rPr>
              <a:t>Base sólida para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1">
                <a:solidFill>
                  <a:srgbClr val="8A5F1E"/>
                </a:solidFill>
                <a:latin typeface="Georgia"/>
              </a:rPr>
              <a:t>evoluir com segurança.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9418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64746E"/>
                </a:solidFill>
                <a:latin typeface="Segoe UI"/>
              </a:rPr>
              <a:t>Stack moderna, dados leves e controle de acesso desde a primeira linha.</a:t>
            </a:r>
          </a:p>
        </p:txBody>
      </p:sp>
      <p:pic>
        <p:nvPicPr>
          <p:cNvPr id="5" name="Picture 4" descr="emblem-sc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384048"/>
            <a:ext cx="420624" cy="42062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2240280"/>
            <a:ext cx="2304288" cy="123444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423160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122F27"/>
                </a:solidFill>
                <a:latin typeface="Segoe UI"/>
              </a:rPr>
              <a:t>Next.js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43200"/>
            <a:ext cx="1920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19" b="0" i="0">
                <a:solidFill>
                  <a:srgbClr val="64746E"/>
                </a:solidFill>
                <a:latin typeface="Segoe UI"/>
              </a:rPr>
              <a:t>Interface rápida e renderizada no servidor.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81528" y="2240280"/>
            <a:ext cx="2304288" cy="123444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82696" y="2423160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122F27"/>
                </a:solidFill>
                <a:latin typeface="Segoe UI"/>
              </a:rPr>
              <a:t>TypeScript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2743200"/>
            <a:ext cx="1920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19" b="0" i="0">
                <a:solidFill>
                  <a:srgbClr val="64746E"/>
                </a:solidFill>
                <a:latin typeface="Segoe UI"/>
              </a:rPr>
              <a:t>Menos erros e regras de negócio tipadas.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57600"/>
            <a:ext cx="2304288" cy="123444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3840480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122F27"/>
                </a:solidFill>
                <a:latin typeface="Segoe UI"/>
              </a:rPr>
              <a:t>Tailwind CSS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4160520"/>
            <a:ext cx="1920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19" b="0" i="0">
                <a:solidFill>
                  <a:srgbClr val="64746E"/>
                </a:solidFill>
                <a:latin typeface="Segoe UI"/>
              </a:rPr>
              <a:t>Visual consistente e responsivo.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81528" y="3657600"/>
            <a:ext cx="2304288" cy="123444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82696" y="3840480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50" b="1" i="0">
                <a:solidFill>
                  <a:srgbClr val="122F27"/>
                </a:solidFill>
                <a:latin typeface="Segoe UI"/>
              </a:rPr>
              <a:t>SQLite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82696" y="4160520"/>
            <a:ext cx="1920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19" b="0" i="0">
                <a:solidFill>
                  <a:srgbClr val="64746E"/>
                </a:solidFill>
                <a:latin typeface="Segoe UI"/>
              </a:rPr>
              <a:t>Banco local simples, leve e auditável.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1417320"/>
            <a:ext cx="5605272" cy="4526280"/>
          </a:xfrm>
          <a:prstGeom prst="roundRect">
            <a:avLst>
              <a:gd name="adj" fmla="val 5000"/>
            </a:avLst>
          </a:prstGeom>
          <a:solidFill>
            <a:srgbClr val="122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627632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1" i="0">
                <a:solidFill>
                  <a:srgbClr val="EAC469"/>
                </a:solidFill>
                <a:latin typeface="Segoe UI"/>
              </a:rPr>
              <a:t>SEGURANÇA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2075688"/>
            <a:ext cx="201168" cy="201168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075688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039112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30" b="1" i="0">
                <a:solidFill>
                  <a:srgbClr val="F7F2E8"/>
                </a:solidFill>
                <a:latin typeface="Segoe UI"/>
              </a:rPr>
              <a:t>Senhas com scrypt + salt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27685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0" i="0">
                <a:solidFill>
                  <a:srgbClr val="B9CFC4"/>
                </a:solidFill>
                <a:latin typeface="Segoe UI"/>
              </a:rPr>
              <a:t>Nada de senha em texto puro no banco.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788920"/>
            <a:ext cx="201168" cy="201168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788920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752344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30" b="1" i="0">
                <a:solidFill>
                  <a:srgbClr val="F7F2E8"/>
                </a:solidFill>
                <a:latin typeface="Segoe UI"/>
              </a:rPr>
              <a:t>Sessão em cookie httpOnly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29900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0" i="0">
                <a:solidFill>
                  <a:srgbClr val="B9CFC4"/>
                </a:solidFill>
                <a:latin typeface="Segoe UI"/>
              </a:rPr>
              <a:t>Token aleatório; só o hash fica armazenado.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3502152"/>
            <a:ext cx="201168" cy="201168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3502152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465576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30" b="1" i="0">
                <a:solidFill>
                  <a:srgbClr val="F7F2E8"/>
                </a:solidFill>
                <a:latin typeface="Segoe UI"/>
              </a:rPr>
              <a:t>Permissões por papel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70332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0" i="0">
                <a:solidFill>
                  <a:srgbClr val="B9CFC4"/>
                </a:solidFill>
                <a:latin typeface="Segoe UI"/>
              </a:rPr>
              <a:t>Verificadas em cada API, serviço e página.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4215383"/>
            <a:ext cx="201168" cy="201168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4215383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178808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30" b="1" i="0">
                <a:solidFill>
                  <a:srgbClr val="F7F2E8"/>
                </a:solidFill>
                <a:latin typeface="Segoe UI"/>
              </a:rPr>
              <a:t>Trilha de multas e pagamentos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0" i="0">
                <a:solidFill>
                  <a:srgbClr val="B9CFC4"/>
                </a:solidFill>
                <a:latin typeface="Segoe UI"/>
              </a:rPr>
              <a:t>Valores, datas, método e comprovante registrados.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928616"/>
            <a:ext cx="201168" cy="201168"/>
          </a:xfrm>
          <a:prstGeom prst="ellipse">
            <a:avLst/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928616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800" b="1" i="0">
                <a:solidFill>
                  <a:srgbClr val="8A5F1E"/>
                </a:solidFill>
                <a:latin typeface="Segoe U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892040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30" b="1" i="0">
                <a:solidFill>
                  <a:srgbClr val="F7F2E8"/>
                </a:solidFill>
                <a:latin typeface="Segoe UI"/>
              </a:rPr>
              <a:t>76 testes automatizados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12978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0" i="0">
                <a:solidFill>
                  <a:srgbClr val="B9CFC4"/>
                </a:solidFill>
                <a:latin typeface="Segoe UI"/>
              </a:rPr>
              <a:t>As regras críticas são testadas via API.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16636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 i="0">
                <a:solidFill>
                  <a:srgbClr val="122F27"/>
                </a:solidFill>
                <a:latin typeface="Segoe UI"/>
              </a:rPr>
              <a:t>Responsivo no celular e no computador.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 i="0">
                <a:solidFill>
                  <a:srgbClr val="64746E"/>
                </a:solidFill>
                <a:latin typeface="Segoe UI"/>
              </a:rPr>
              <a:t>A mesma base atende morador, síndico e portaria.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5413248"/>
            <a:ext cx="5029200" cy="10972"/>
          </a:xfrm>
          <a:prstGeom prst="rect">
            <a:avLst/>
          </a:prstGeom>
          <a:solidFill>
            <a:srgbClr val="3A5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63640" y="550468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750" b="0" i="0">
                <a:solidFill>
                  <a:srgbClr val="B9CFC4"/>
                </a:solidFill>
                <a:latin typeface="Segoe UI"/>
              </a:rPr>
              <a:t>Dados do condomínio no SQLite; backups podem ser automatizados na implantação.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" y="6473952"/>
            <a:ext cx="11000232" cy="10972"/>
          </a:xfrm>
          <a:prstGeom prst="rect">
            <a:avLst/>
          </a:prstGeom>
          <a:solidFill>
            <a:srgbClr val="E7DD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6537960"/>
            <a:ext cx="6858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Condomínio São Cristóvão · Área Comum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6537960"/>
            <a:ext cx="9418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8A5F1E"/>
                </a:solidFill>
                <a:latin typeface="Segoe UI"/>
              </a:rPr>
              <a:t>BENEFÍCIOS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58952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0">
                <a:solidFill>
                  <a:srgbClr val="122F27"/>
                </a:solidFill>
                <a:latin typeface="Georgia"/>
              </a:rPr>
              <a:t>Menos conflito.</a:t>
            </a:r>
          </a:p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3100" b="0" i="1">
                <a:solidFill>
                  <a:srgbClr val="8A5F1E"/>
                </a:solidFill>
                <a:latin typeface="Georgia"/>
              </a:rPr>
              <a:t>Mais convivência.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9418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0" i="0">
                <a:solidFill>
                  <a:srgbClr val="64746E"/>
                </a:solidFill>
                <a:latin typeface="Segoe UI"/>
              </a:rPr>
              <a:t>O ganho não é só tecnológico: é de transparência, previsibilidade e tempo para todos.</a:t>
            </a:r>
          </a:p>
        </p:txBody>
      </p:sp>
      <p:pic>
        <p:nvPicPr>
          <p:cNvPr id="5" name="Picture 4" descr="emblem-sc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384048"/>
            <a:ext cx="420624" cy="42062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2148840"/>
            <a:ext cx="2651760" cy="210312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2000" b="0" i="0">
                <a:solidFill>
                  <a:srgbClr val="D9A441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5292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Transparência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869" b="0" i="0">
                <a:solidFill>
                  <a:srgbClr val="64746E"/>
                </a:solidFill>
                <a:latin typeface="Segoe UI"/>
              </a:rPr>
              <a:t>Todos veem a mesma agenda e o mesmo histórico.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2148840"/>
            <a:ext cx="2651760" cy="210312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235915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2000" b="0" i="0">
                <a:solidFill>
                  <a:srgbClr val="D9A441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85292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Regras claras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32004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869" b="0" i="0">
                <a:solidFill>
                  <a:srgbClr val="64746E"/>
                </a:solidFill>
                <a:latin typeface="Segoe UI"/>
              </a:rPr>
              <a:t>Critérios objetivos para reservar, cancelar e pagar.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2148840"/>
            <a:ext cx="2651760" cy="210312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235915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2000" b="0" i="0">
                <a:solidFill>
                  <a:srgbClr val="D9A441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85292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Prestação de contas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004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869" b="0" i="0">
                <a:solidFill>
                  <a:srgbClr val="64746E"/>
                </a:solidFill>
                <a:latin typeface="Segoe UI"/>
              </a:rPr>
              <a:t>Multas e pagamentos com registro e comprovante.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43416" y="2148840"/>
            <a:ext cx="2651760" cy="210312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 w="11430">
            <a:solidFill>
              <a:srgbClr val="E7DD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235915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2000" b="0" i="0">
                <a:solidFill>
                  <a:srgbClr val="D9A441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2016" y="285292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00" b="1" i="0">
                <a:solidFill>
                  <a:srgbClr val="122F27"/>
                </a:solidFill>
                <a:latin typeface="Segoe UI"/>
              </a:rPr>
              <a:t>Pronto para crescer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32004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869" b="0" i="0">
                <a:solidFill>
                  <a:srgbClr val="64746E"/>
                </a:solidFill>
                <a:latin typeface="Segoe UI"/>
              </a:rPr>
              <a:t>Novas áreas, regras e moradores sem refazer o sistema.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9160"/>
            <a:ext cx="11000232" cy="1097280"/>
          </a:xfrm>
          <a:prstGeom prst="roundRect">
            <a:avLst>
              <a:gd name="adj" fmla="val 5000"/>
            </a:avLst>
          </a:prstGeom>
          <a:solidFill>
            <a:srgbClr val="122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84632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500" b="0" i="1">
                <a:solidFill>
                  <a:srgbClr val="F7F2E8"/>
                </a:solidFill>
                <a:latin typeface="Georgia"/>
              </a:rPr>
              <a:t>“A convivência começa quando a informação é a mesma para todos.”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285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0" i="0">
                <a:solidFill>
                  <a:srgbClr val="EAC469"/>
                </a:solidFill>
                <a:latin typeface="Segoe UI"/>
              </a:rPr>
              <a:t>Condomínio São Cristóvão · Área Comum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507492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F9E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5074920"/>
            <a:ext cx="2148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700" b="1" i="0">
                <a:solidFill>
                  <a:srgbClr val="8A5F1E"/>
                </a:solidFill>
                <a:latin typeface="Segoe UI"/>
              </a:rPr>
              <a:t>4 áreas · 3 perfis · 1 sistema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6473952"/>
            <a:ext cx="11000232" cy="10972"/>
          </a:xfrm>
          <a:prstGeom prst="rect">
            <a:avLst/>
          </a:prstGeom>
          <a:solidFill>
            <a:srgbClr val="E7DD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537960"/>
            <a:ext cx="6858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Condomínio São Cristóvão · Área Comum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52760" y="6537960"/>
            <a:ext cx="9418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AA69F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F2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-1280160"/>
            <a:ext cx="4206240" cy="4206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45720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50" b="1" i="0">
                <a:solidFill>
                  <a:srgbClr val="EAC469"/>
                </a:solidFill>
                <a:latin typeface="Segoe UI"/>
              </a:rPr>
              <a:t>ENCAMINHAMENTO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58952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3000" b="0" i="0">
                <a:solidFill>
                  <a:srgbClr val="F7F2E8"/>
                </a:solidFill>
                <a:latin typeface="Georgia"/>
              </a:rPr>
              <a:t>Próximo passo:</a:t>
            </a:r>
            <a:r>
              <a:rPr sz="3000" b="0" i="1">
                <a:solidFill>
                  <a:srgbClr val="EAC469"/>
                </a:solidFill>
                <a:latin typeface="Georgia"/>
              </a:rPr>
              <a:t> aprovação e implantação.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00" b="0" i="0">
                <a:solidFill>
                  <a:srgbClr val="B9CFC4"/>
                </a:solidFill>
                <a:latin typeface="Segoe UI"/>
              </a:rPr>
              <a:t>Uma proposta pronta para ser apresentada e aprovada em assembleia.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762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>
                <a:solidFill>
                  <a:srgbClr val="EAC469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42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 i="0">
                <a:solidFill>
                  <a:srgbClr val="F7F2E8"/>
                </a:solidFill>
                <a:latin typeface="Segoe UI"/>
              </a:rPr>
              <a:t>Aprovação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3464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00" b="0" i="0">
                <a:solidFill>
                  <a:srgbClr val="B9CFC4"/>
                </a:solidFill>
                <a:latin typeface="Segoe UI"/>
              </a:rPr>
              <a:t>Apresentação e aprovação em assembleia.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2231136"/>
            <a:ext cx="2084831" cy="7315"/>
          </a:xfrm>
          <a:prstGeom prst="rect">
            <a:avLst/>
          </a:prstGeom>
          <a:solidFill>
            <a:srgbClr val="3A5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21762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>
                <a:solidFill>
                  <a:srgbClr val="EAC469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2424" y="2542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 i="0">
                <a:solidFill>
                  <a:srgbClr val="F7F2E8"/>
                </a:solidFill>
                <a:latin typeface="Segoe UI"/>
              </a:rPr>
              <a:t>Configuração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2424" y="283464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00" b="0" i="0">
                <a:solidFill>
                  <a:srgbClr val="B9CFC4"/>
                </a:solidFill>
                <a:latin typeface="Segoe UI"/>
              </a:rPr>
              <a:t>Áreas, regras, moradores e contas oficiais.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9352" y="2231136"/>
            <a:ext cx="2084831" cy="7315"/>
          </a:xfrm>
          <a:prstGeom prst="rect">
            <a:avLst/>
          </a:prstGeom>
          <a:solidFill>
            <a:srgbClr val="3A5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0488" y="21762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>
                <a:solidFill>
                  <a:srgbClr val="EAC469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2542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 i="0">
                <a:solidFill>
                  <a:srgbClr val="F7F2E8"/>
                </a:solidFill>
                <a:latin typeface="Segoe UI"/>
              </a:rPr>
              <a:t>Piloto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283464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00" b="0" i="0">
                <a:solidFill>
                  <a:srgbClr val="B9CFC4"/>
                </a:solidFill>
                <a:latin typeface="Segoe UI"/>
              </a:rPr>
              <a:t>Teste com um grupo e ajuste dos fluxos.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57416" y="2231136"/>
            <a:ext cx="2084831" cy="7315"/>
          </a:xfrm>
          <a:prstGeom prst="rect">
            <a:avLst/>
          </a:prstGeom>
          <a:solidFill>
            <a:srgbClr val="3A5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88552" y="21762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700" b="0" i="0">
                <a:solidFill>
                  <a:srgbClr val="EAC469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2542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1" i="0">
                <a:solidFill>
                  <a:srgbClr val="F7F2E8"/>
                </a:solidFill>
                <a:latin typeface="Segoe UI"/>
              </a:rPr>
              <a:t>Lançamento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83464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800" b="0" i="0">
                <a:solidFill>
                  <a:srgbClr val="B9CFC4"/>
                </a:solidFill>
                <a:latin typeface="Segoe UI"/>
              </a:rPr>
              <a:t>Treinamento da portaria e comunicação.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840480"/>
            <a:ext cx="11000232" cy="2011680"/>
          </a:xfrm>
          <a:prstGeom prst="roundRect">
            <a:avLst>
              <a:gd name="adj" fmla="val 5000"/>
            </a:avLst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0507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1" i="0">
                <a:solidFill>
                  <a:srgbClr val="8A5F1E"/>
                </a:solidFill>
                <a:latin typeface="Segoe UI"/>
              </a:rPr>
              <a:t>ACESSE A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297680"/>
            <a:ext cx="5577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700" b="1" i="0">
                <a:solidFill>
                  <a:srgbClr val="122F27"/>
                </a:solidFill>
                <a:latin typeface="Segoe UI"/>
              </a:rPr>
              <a:t>http://127.0.0.1:3000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 i="0">
                <a:solidFill>
                  <a:srgbClr val="64746E"/>
                </a:solidFill>
                <a:latin typeface="Segoe UI"/>
              </a:rPr>
              <a:t>Na rede local: http://192.168.15.166:3000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102352"/>
            <a:ext cx="5577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750" b="0" i="0">
                <a:solidFill>
                  <a:srgbClr val="64746E"/>
                </a:solidFill>
                <a:latin typeface="Segoe UI"/>
              </a:rPr>
              <a:t>Abra no navegador deste computador. Para o cliente acessar de outro dispositivo, use o endereço da rede local ou configure um túnel/hospedagem.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0" y="4069080"/>
            <a:ext cx="10972" cy="1600200"/>
          </a:xfrm>
          <a:prstGeom prst="rect">
            <a:avLst/>
          </a:prstGeom>
          <a:solidFill>
            <a:srgbClr val="E7DD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4005072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1" i="0">
                <a:solidFill>
                  <a:srgbClr val="8A5F1E"/>
                </a:solidFill>
                <a:latin typeface="Segoe UI"/>
              </a:rPr>
              <a:t>CONTAS DE TESTE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4315968"/>
            <a:ext cx="777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1" i="0">
                <a:solidFill>
                  <a:srgbClr val="122F27"/>
                </a:solidFill>
                <a:latin typeface="Segoe UI"/>
              </a:rPr>
              <a:t>Síndico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4315968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0" i="0">
                <a:solidFill>
                  <a:srgbClr val="64746E"/>
                </a:solidFill>
                <a:latin typeface="Segoe UI"/>
              </a:rPr>
              <a:t>sindico@areacomum.app · Sindico@123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4700016"/>
            <a:ext cx="777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1" i="0">
                <a:solidFill>
                  <a:srgbClr val="122F27"/>
                </a:solidFill>
                <a:latin typeface="Segoe UI"/>
              </a:rPr>
              <a:t>Portaria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9248" y="470001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0" i="0">
                <a:solidFill>
                  <a:srgbClr val="64746E"/>
                </a:solidFill>
                <a:latin typeface="Segoe UI"/>
              </a:rPr>
              <a:t>portaria@areacomum.app · Portaria@123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5084064"/>
            <a:ext cx="777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1" i="0">
                <a:solidFill>
                  <a:srgbClr val="122F27"/>
                </a:solidFill>
                <a:latin typeface="Segoe UI"/>
              </a:rPr>
              <a:t>Morador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9248" y="5084064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800" b="0" i="0">
                <a:solidFill>
                  <a:srgbClr val="64746E"/>
                </a:solidFill>
                <a:latin typeface="Segoe UI"/>
              </a:rPr>
              <a:t>ana@areacomum.app · Ana@1234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1996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FB3A8"/>
                </a:solidFill>
                <a:latin typeface="Segoe UI"/>
              </a:rPr>
              <a:t>Documentação, testes e capturas de tela estão inclusos no projeto.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619963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Aft>
                <a:spcPts val="500"/>
              </a:spcAft>
            </a:pPr>
            <a:r>
              <a:rPr sz="750" b="0" i="0">
                <a:solidFill>
                  <a:srgbClr val="9FB3A8"/>
                </a:solidFill>
                <a:latin typeface="Segoe UI"/>
              </a:rPr>
              <a:t>Outubro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